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10287000" cx="18288000"/>
  <p:notesSz cx="18288000" cy="10287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4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5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5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5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5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1" type="ftr"/>
          </p:nvPr>
        </p:nvSpPr>
        <p:spPr>
          <a:xfrm>
            <a:off x="6217920" y="9566910"/>
            <a:ext cx="58521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316736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2743200" y="5760720"/>
            <a:ext cx="12801599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1" type="ftr"/>
          </p:nvPr>
        </p:nvSpPr>
        <p:spPr>
          <a:xfrm>
            <a:off x="6217920" y="9566910"/>
            <a:ext cx="58521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316736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652017" y="3688344"/>
            <a:ext cx="16983965" cy="6225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6217920" y="9566910"/>
            <a:ext cx="58521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1316736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6217920" y="9566910"/>
            <a:ext cx="58521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1316736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9418319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6217920" y="9566910"/>
            <a:ext cx="58521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1316736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52017" y="3688344"/>
            <a:ext cx="16983965" cy="6225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50" u="none" cap="none" strike="noStrike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6217920" y="9566910"/>
            <a:ext cx="58521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316736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2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20.jpg"/><Relationship Id="rId6" Type="http://schemas.openxmlformats.org/officeDocument/2006/relationships/image" Target="../media/image16.jpg"/><Relationship Id="rId7" Type="http://schemas.openxmlformats.org/officeDocument/2006/relationships/image" Target="../media/image7.jpg"/><Relationship Id="rId8" Type="http://schemas.openxmlformats.org/officeDocument/2006/relationships/image" Target="../media/image1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22.png"/><Relationship Id="rId5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image" Target="../media/image20.jpg"/><Relationship Id="rId6" Type="http://schemas.openxmlformats.org/officeDocument/2006/relationships/image" Target="../media/image18.png"/><Relationship Id="rId7" Type="http://schemas.openxmlformats.org/officeDocument/2006/relationships/image" Target="../media/image15.png"/><Relationship Id="rId8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image" Target="../media/image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www.w3schools.com/sql/sql_ref_sqlserver.asp" TargetMode="External"/><Relationship Id="rId4" Type="http://schemas.openxmlformats.org/officeDocument/2006/relationships/hyperlink" Target="http://www.w3schools.com/sql/sql_ref_sqlserver.asp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0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/>
        </p:nvSpPr>
        <p:spPr>
          <a:xfrm>
            <a:off x="3628392" y="4575607"/>
            <a:ext cx="11359515" cy="347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2539" lvl="0" marL="12065" marR="5080" rtl="0" algn="ctr">
              <a:lnSpc>
                <a:spcPct val="84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0" u="none" cap="none" strike="noStrike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DATA</a:t>
            </a:r>
            <a:r>
              <a:rPr b="0" i="0" lang="en-GB" sz="9000" u="none" cap="none" strike="noStrike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9000" u="none" cap="none" strike="noStrike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SCIENCE</a:t>
            </a:r>
            <a:r>
              <a:rPr b="0" i="0" lang="en-GB" sz="9000" u="none" cap="none" strike="noStrike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9000" u="none" cap="none" strike="noStrike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AND</a:t>
            </a:r>
            <a:r>
              <a:rPr b="0" i="0" lang="en-GB" sz="9000" u="none" cap="none" strike="noStrike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9000" u="none" cap="none" strike="noStrike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MACHINE</a:t>
            </a:r>
            <a:r>
              <a:rPr b="0" i="0" lang="en-GB" sz="9000" u="none" cap="none" strike="noStrike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9000" u="none" cap="none" strike="noStrike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LEARNING</a:t>
            </a:r>
            <a:r>
              <a:rPr b="0" i="0" lang="en-GB" sz="9000" u="none" cap="none" strike="noStrike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9000" u="none" cap="none" strike="noStrike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BOOTCAMP</a:t>
            </a:r>
            <a:endParaRPr b="0" i="0" sz="9000" u="none" cap="none" strike="noStrike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4" name="Google Shape;44;p7"/>
          <p:cNvSpPr txBox="1"/>
          <p:nvPr/>
        </p:nvSpPr>
        <p:spPr>
          <a:xfrm>
            <a:off x="8689981" y="9178804"/>
            <a:ext cx="90360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450" u="none" cap="none" strike="noStrike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SQL</a:t>
            </a:r>
            <a:endParaRPr b="0" i="0" sz="3450" u="none" cap="none" strike="noStrike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7353940" y="1000140"/>
            <a:ext cx="3581400" cy="35810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/>
        </p:nvSpPr>
        <p:spPr>
          <a:xfrm>
            <a:off x="921512" y="1827040"/>
            <a:ext cx="12446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SQL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51" name="Google Shape;51;p8"/>
          <p:cNvSpPr txBox="1"/>
          <p:nvPr/>
        </p:nvSpPr>
        <p:spPr>
          <a:xfrm>
            <a:off x="921512" y="4007937"/>
            <a:ext cx="14747240" cy="812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SQL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single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most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requested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language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positions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Analyst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Scientist.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Ahead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Python,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ahead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ahead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Excel.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" name="Google Shape;52;p8"/>
          <p:cNvSpPr txBox="1"/>
          <p:nvPr/>
        </p:nvSpPr>
        <p:spPr>
          <a:xfrm>
            <a:off x="921512" y="5881196"/>
            <a:ext cx="410210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you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think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that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is?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/>
        </p:nvSpPr>
        <p:spPr>
          <a:xfrm>
            <a:off x="921512" y="1089423"/>
            <a:ext cx="12446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SQL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58" name="Google Shape;58;p9"/>
          <p:cNvSpPr txBox="1"/>
          <p:nvPr/>
        </p:nvSpPr>
        <p:spPr>
          <a:xfrm>
            <a:off x="921512" y="3270320"/>
            <a:ext cx="16568419" cy="812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Structured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Query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Language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standard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language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used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create,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manage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query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databases.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9" name="Google Shape;59;p9"/>
          <p:cNvSpPr txBox="1"/>
          <p:nvPr/>
        </p:nvSpPr>
        <p:spPr>
          <a:xfrm>
            <a:off x="921512" y="5143579"/>
            <a:ext cx="7502525" cy="2065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need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clarify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some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words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today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20370" lvl="0" marL="1004569" marR="0" rtl="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20370" lvl="0" marL="1004569" marR="0" rtl="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Relational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20370" lvl="0" marL="1004569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Query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6257940" y="4815068"/>
            <a:ext cx="3261725" cy="184276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0"/>
          <p:cNvSpPr txBox="1"/>
          <p:nvPr>
            <p:ph type="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DATABASES</a:t>
            </a:r>
            <a:endParaRPr/>
          </a:p>
        </p:txBody>
      </p:sp>
      <p:sp>
        <p:nvSpPr>
          <p:cNvPr id="66" name="Google Shape;66;p10"/>
          <p:cNvSpPr txBox="1"/>
          <p:nvPr/>
        </p:nvSpPr>
        <p:spPr>
          <a:xfrm>
            <a:off x="921512" y="3130112"/>
            <a:ext cx="16802735" cy="404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Organized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collection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structured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ways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that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impose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some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rules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according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needs,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e.g.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0370" lvl="0" marL="10045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Size</a:t>
            </a:r>
            <a:endParaRPr sz="2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3545" lvl="0" marL="1007744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chemeClr val="dk1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sz="2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3545" lvl="0" marL="1007744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 sz="2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3545" lvl="0" marL="1007744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chemeClr val="dk1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Redundancy</a:t>
            </a:r>
            <a:endParaRPr sz="2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3545" lvl="0" marL="1007744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chemeClr val="dk1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Accessibility</a:t>
            </a:r>
            <a:endParaRPr sz="2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795" rtl="0" algn="l">
              <a:lnSpc>
                <a:spcPct val="1194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ANATOMY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OF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DATABASE</a:t>
            </a:r>
            <a:endParaRPr/>
          </a:p>
        </p:txBody>
      </p:sp>
      <p:sp>
        <p:nvSpPr>
          <p:cNvPr id="72" name="Google Shape;72;p11"/>
          <p:cNvSpPr txBox="1"/>
          <p:nvPr/>
        </p:nvSpPr>
        <p:spPr>
          <a:xfrm>
            <a:off x="944372" y="2145674"/>
            <a:ext cx="8820785" cy="556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ALL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COMPONENTS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WE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WILL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TALK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ABOUT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None/>
            </a:pPr>
            <a:r>
              <a:t/>
            </a:r>
            <a:endParaRPr sz="3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3045" lvl="0" marL="2457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Verdana"/>
              <a:buChar char="-"/>
            </a:pPr>
            <a:r>
              <a:rPr lang="en-GB" sz="27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Tables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1140" lvl="0" marL="243840" marR="0" rtl="0" algn="l">
              <a:lnSpc>
                <a:spcPct val="100000"/>
              </a:lnSpc>
              <a:spcBef>
                <a:spcPts val="175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Verdana"/>
              <a:buChar char="-"/>
            </a:pPr>
            <a:r>
              <a:rPr lang="en-GB" sz="27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Columns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3045" lvl="0" marL="245745" marR="0" rtl="0" algn="l">
              <a:lnSpc>
                <a:spcPct val="100000"/>
              </a:lnSpc>
              <a:spcBef>
                <a:spcPts val="1739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Verdana"/>
              <a:buChar char="-"/>
            </a:pPr>
            <a:r>
              <a:rPr lang="en-GB" sz="27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Rows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365"/>
              </a:buClr>
              <a:buSzPts val="2700"/>
              <a:buFont typeface="Verdana"/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rgbClr val="084365"/>
              </a:buClr>
              <a:buSzPts val="3150"/>
              <a:buFont typeface="Verdana"/>
              <a:buNone/>
            </a:pPr>
            <a:r>
              <a:t/>
            </a:r>
            <a:endParaRPr sz="3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1140" lvl="0" marL="243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Verdana"/>
              <a:buChar char="-"/>
            </a:pPr>
            <a:r>
              <a:rPr lang="en-GB" sz="2750">
                <a:solidFill>
                  <a:srgbClr val="989898"/>
                </a:solidFill>
                <a:latin typeface="Verdana"/>
                <a:ea typeface="Verdana"/>
                <a:cs typeface="Verdana"/>
                <a:sym typeface="Verdana"/>
              </a:rPr>
              <a:t>Keys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3045" lvl="0" marL="245745" marR="0" rtl="0" algn="l">
              <a:lnSpc>
                <a:spcPct val="100000"/>
              </a:lnSpc>
              <a:spcBef>
                <a:spcPts val="1739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Verdana"/>
              <a:buChar char="-"/>
            </a:pPr>
            <a:r>
              <a:rPr lang="en-GB" sz="2750">
                <a:solidFill>
                  <a:srgbClr val="989898"/>
                </a:solidFill>
                <a:latin typeface="Verdana"/>
                <a:ea typeface="Verdana"/>
                <a:cs typeface="Verdana"/>
                <a:sym typeface="Verdana"/>
              </a:rPr>
              <a:t>Relationships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3045" lvl="0" marL="245745" marR="0" rtl="0" algn="l">
              <a:lnSpc>
                <a:spcPct val="100000"/>
              </a:lnSpc>
              <a:spcBef>
                <a:spcPts val="1739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Verdana"/>
              <a:buChar char="-"/>
            </a:pPr>
            <a:r>
              <a:rPr lang="en-GB" sz="2750">
                <a:solidFill>
                  <a:srgbClr val="989898"/>
                </a:solidFill>
                <a:latin typeface="Verdana"/>
                <a:ea typeface="Verdana"/>
                <a:cs typeface="Verdana"/>
                <a:sym typeface="Verdana"/>
              </a:rPr>
              <a:t>Views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3" name="Google Shape;73;p11"/>
          <p:cNvSpPr txBox="1"/>
          <p:nvPr/>
        </p:nvSpPr>
        <p:spPr>
          <a:xfrm>
            <a:off x="16147555" y="9058147"/>
            <a:ext cx="1882139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Squad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|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SQL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795" rtl="0" algn="l">
              <a:lnSpc>
                <a:spcPct val="1194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TABLES,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COLUMNS,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ROWS</a:t>
            </a:r>
            <a:endParaRPr/>
          </a:p>
        </p:txBody>
      </p:sp>
      <p:sp>
        <p:nvSpPr>
          <p:cNvPr id="79" name="Google Shape;79;p12"/>
          <p:cNvSpPr txBox="1"/>
          <p:nvPr/>
        </p:nvSpPr>
        <p:spPr>
          <a:xfrm>
            <a:off x="944372" y="2145674"/>
            <a:ext cx="16247744" cy="664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TABLES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1590" marR="0" rtl="0" algn="l">
              <a:lnSpc>
                <a:spcPct val="100000"/>
              </a:lnSpc>
              <a:spcBef>
                <a:spcPts val="254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structures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"/>
              </a:spcBef>
              <a:spcAft>
                <a:spcPts val="0"/>
              </a:spcAft>
              <a:buNone/>
            </a:pPr>
            <a:r>
              <a:t/>
            </a:r>
            <a:endParaRPr sz="3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9685" lvl="0" marL="22860" marR="5080" rtl="0" algn="just">
              <a:lnSpc>
                <a:spcPct val="12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Each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always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represents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single,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specific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subject.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order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columns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within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absolutely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importance.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Every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should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contain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least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column</a:t>
            </a:r>
            <a:r>
              <a:rPr i="1"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—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known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primary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</a:t>
            </a:r>
            <a:r>
              <a:rPr i="1"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—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that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uniquely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identifies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each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its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rows.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685" marR="339090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subject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that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given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represents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usually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either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object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event.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When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subject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object,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represents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something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that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tangible,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such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person,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place,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thing.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(i.e.: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Pilots,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products,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machines,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students,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buildings,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equipment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When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subject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event,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represents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something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that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occurs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given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point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time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has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characteristics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you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wish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record.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(i.e.: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judicial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hearings,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distributions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funds,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lab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test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results,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geological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surveys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6147555" y="1333500"/>
            <a:ext cx="1882139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Squad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|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SQL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961136" y="1687983"/>
            <a:ext cx="883983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94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SAMPLE</a:t>
            </a:r>
            <a:r>
              <a:rPr lang="en-GB" sz="4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-</a:t>
            </a:r>
            <a:r>
              <a:rPr lang="en-GB" sz="4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SAKILA</a:t>
            </a:r>
            <a:r>
              <a:rPr lang="en-GB" sz="4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DATABASE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941324" y="2751345"/>
            <a:ext cx="340804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FILMS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TABLE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972183" y="4229620"/>
            <a:ext cx="16876776" cy="34512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951992" y="2186119"/>
            <a:ext cx="17064990" cy="5914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COLUMNS</a:t>
            </a:r>
            <a:r>
              <a:rPr lang="en-GB" sz="2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-</a:t>
            </a:r>
            <a:r>
              <a:rPr lang="en-GB" sz="2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ATTRIBUTES</a:t>
            </a:r>
            <a:r>
              <a:rPr lang="en-GB" sz="2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OF</a:t>
            </a:r>
            <a:r>
              <a:rPr lang="en-GB" sz="2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2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OBJECT</a:t>
            </a:r>
            <a:endParaRPr sz="2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08436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Columns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represent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characteristic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subject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which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belongs.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" lvl="0" marL="30480" marR="1586230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Columns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structures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that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store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You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can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retrieve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columns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present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information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almost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configuration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imaginable.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2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098D3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84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098D3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84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ROWS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-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ENTRIES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OF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OBJECT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"/>
              </a:spcBef>
              <a:spcAft>
                <a:spcPts val="0"/>
              </a:spcAft>
              <a:buNone/>
            </a:pPr>
            <a:r>
              <a:t/>
            </a:r>
            <a:endParaRPr sz="2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15" marR="508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represents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unique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instance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subject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composed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entire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columns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regardless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whether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not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columns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contain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values.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6147555" y="9169399"/>
            <a:ext cx="1882139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Squad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|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SQL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88300">
            <a:spAutoFit/>
          </a:bodyPr>
          <a:lstStyle/>
          <a:p>
            <a:pPr indent="0" lvl="0" marL="27940" rtl="0" algn="l">
              <a:lnSpc>
                <a:spcPct val="1194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TYPES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941324" y="3641100"/>
            <a:ext cx="963993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WHAT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TYPES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CAN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SINGLE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PIECE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OF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DATA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BE?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1008380" y="4669353"/>
            <a:ext cx="480568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-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Integers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(smallint,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int,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bigint)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1008380" y="5544384"/>
            <a:ext cx="103124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-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1008380" y="6576133"/>
            <a:ext cx="5158105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-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Varchar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(variable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length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char)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1008380" y="7609787"/>
            <a:ext cx="12777470" cy="664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1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-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(unlimited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length)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6617969" marR="0" rtl="0" algn="l">
              <a:lnSpc>
                <a:spcPct val="101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-Date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(timestamp,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time,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interval)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7614024" y="4692213"/>
            <a:ext cx="6193155" cy="88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-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Serial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(autoincrementing: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smallserial,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serial,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bigserial)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7614026" y="6370392"/>
            <a:ext cx="5704205" cy="879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2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-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Fixed/floating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point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(numeric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precision)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/>
        </p:nvSpPr>
        <p:spPr>
          <a:xfrm>
            <a:off x="16147555" y="1333500"/>
            <a:ext cx="1882139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Squad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|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SQL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961136" y="1687983"/>
            <a:ext cx="883983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94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SAMPLE</a:t>
            </a:r>
            <a:r>
              <a:rPr lang="en-GB" sz="4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-</a:t>
            </a:r>
            <a:r>
              <a:rPr lang="en-GB" sz="4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SAKILA</a:t>
            </a:r>
            <a:r>
              <a:rPr lang="en-GB" sz="4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DATABASE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941324" y="2751345"/>
            <a:ext cx="340804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FILMS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TABLE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972183" y="4229620"/>
            <a:ext cx="16876776" cy="34512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945896" y="419100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10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OF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DATABASES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/>
              <a:t>OPERATIONAL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/>
              <a:t>VS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/>
              <a:t>ANALYTICAL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961136" y="3709470"/>
            <a:ext cx="15002510" cy="1892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7620" lvl="0" marL="12700" marR="5080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Operational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backbone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many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companies,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organizations,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institutions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throughout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world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today.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type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primarily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used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collect,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modify,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maintain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day-to-day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basis.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type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stored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dynamic,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meaning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that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changes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constantly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always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reflects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up-to-the-minute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information.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951992" y="6747439"/>
            <a:ext cx="15986125" cy="1891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350" lvl="0" marL="18415" marR="5080" rtl="0" algn="l">
              <a:lnSpc>
                <a:spcPct val="12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Analytical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store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track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historical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time-dependent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valuable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assets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tracking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trends,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viewing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statistical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over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period,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making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tactical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strategic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business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projections.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type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stored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static,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meaning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that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never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(or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very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rarely)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modified,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although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new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might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often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added.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/>
        </p:nvSpPr>
        <p:spPr>
          <a:xfrm>
            <a:off x="16147555" y="1034534"/>
            <a:ext cx="1882139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Squad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|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SQL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6" name="Google Shape;126;p18"/>
          <p:cNvSpPr txBox="1"/>
          <p:nvPr>
            <p:ph type="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68550">
            <a:spAutoFit/>
          </a:bodyPr>
          <a:lstStyle/>
          <a:p>
            <a:pPr indent="0" lvl="0" marL="107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IS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RELATIONAL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DATABASE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988568" y="4509333"/>
            <a:ext cx="16275685" cy="2456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145" lvl="0" marL="29209" marR="112141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structured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recognise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between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stored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items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information.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745490" marR="5080" rtl="0" algn="l">
              <a:lnSpc>
                <a:spcPct val="104400"/>
              </a:lnSpc>
              <a:spcBef>
                <a:spcPts val="2415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built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tables,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which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establish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between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tuples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(records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rows)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attributes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(fields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columns).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1493009" y="8278271"/>
            <a:ext cx="11251565" cy="37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0369" lvl="0" marL="4330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Each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can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each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other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using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concepts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keys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/>
        </p:nvSpPr>
        <p:spPr>
          <a:xfrm>
            <a:off x="990600" y="1409700"/>
            <a:ext cx="211899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RDBMS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990600" y="2528170"/>
            <a:ext cx="16111855" cy="5304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445" lvl="0" marL="12700" marR="135255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management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system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(RDBMS)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software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application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program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you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use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create,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maintain,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modify,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manipulate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445" lvl="0" marL="12700" marR="31686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SQL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90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de</a:t>
            </a:r>
            <a:r>
              <a:rPr lang="en-GB" sz="290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90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facto</a:t>
            </a:r>
            <a:r>
              <a:rPr lang="en-GB" sz="290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universal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language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work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with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naturally,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most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RDBMS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support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SQL.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SQL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more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than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just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means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extracting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knowledge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It</a:t>
            </a:r>
            <a:r>
              <a:rPr i="1"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’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also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language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defining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structures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that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hold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can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organize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relationships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145" marR="0" rtl="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MySQL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many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RDBMS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that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support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use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SQL.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will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use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graphical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user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interface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endParaRPr sz="2750">
              <a:solidFill>
                <a:srgbClr val="08436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7145" marR="0" rtl="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work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with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MySQL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called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MySQL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workbench.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/>
        </p:nvSpPr>
        <p:spPr>
          <a:xfrm>
            <a:off x="0" y="4457700"/>
            <a:ext cx="18288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SHOW CASE SAKILLA</a:t>
            </a:r>
            <a:endParaRPr sz="7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/>
        </p:nvSpPr>
        <p:spPr>
          <a:xfrm>
            <a:off x="990600" y="1409700"/>
            <a:ext cx="8763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DATABASE ORGANIZATION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990601" y="2528170"/>
            <a:ext cx="7620000" cy="2505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445" lvl="0" marL="12700" marR="135255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We are used to seeing denormalized tables.</a:t>
            </a:r>
            <a:endParaRPr/>
          </a:p>
          <a:p>
            <a:pPr indent="4445" lvl="0" marL="12700" marR="135255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Easier to read but a lot of data replicated</a:t>
            </a:r>
            <a:endParaRPr/>
          </a:p>
          <a:p>
            <a:pPr indent="4445" lvl="0" marL="12700" marR="135255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08436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445" lvl="0" marL="12700" marR="135255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What if we transformed it into a link between two tables?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6" name="Google Shape;1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2600" y="1409700"/>
            <a:ext cx="8153400" cy="8123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/>
        </p:nvSpPr>
        <p:spPr>
          <a:xfrm>
            <a:off x="990600" y="1409700"/>
            <a:ext cx="8763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DATABASE ORGANIZATION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990601" y="2528170"/>
            <a:ext cx="7620000" cy="9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445" lvl="0" marL="12700" marR="135255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 one, you would see the products in each order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3" name="Google Shape;1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4486" y="660836"/>
            <a:ext cx="6683828" cy="8965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/>
        </p:nvSpPr>
        <p:spPr>
          <a:xfrm>
            <a:off x="990600" y="1409700"/>
            <a:ext cx="8763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DATABASE ORGANIZATION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990600" y="2528170"/>
            <a:ext cx="13563599" cy="457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445" lvl="0" marL="12700" marR="135255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 the other, each line is a product, and there is no product repetition 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0" name="Google Shape;1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4229100"/>
            <a:ext cx="12485914" cy="4965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/>
        </p:nvSpPr>
        <p:spPr>
          <a:xfrm>
            <a:off x="9143999" y="1434230"/>
            <a:ext cx="8763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DATABASE ORGANIZATION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9144000" y="2552700"/>
            <a:ext cx="8153400" cy="9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445" lvl="0" marL="12700" marR="135255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Now, do you want to know the Name of the product based on the order ID?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/>
        </p:nvSpPr>
        <p:spPr>
          <a:xfrm>
            <a:off x="9143999" y="1434230"/>
            <a:ext cx="8763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DATABASE ORGANIZATION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9144000" y="2552700"/>
            <a:ext cx="8153400" cy="1481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445" lvl="0" marL="12700" marR="135255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These are called Normalized tables and can be “blend” together to obtains the data via de join operation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3" name="Google Shape;173;p25"/>
          <p:cNvPicPr preferRelativeResize="0"/>
          <p:nvPr/>
        </p:nvPicPr>
        <p:blipFill rotWithShape="1">
          <a:blip r:embed="rId3">
            <a:alphaModFix/>
          </a:blip>
          <a:srcRect b="0" l="0" r="28738" t="0"/>
          <a:stretch/>
        </p:blipFill>
        <p:spPr>
          <a:xfrm>
            <a:off x="9160328" y="4479036"/>
            <a:ext cx="7924800" cy="4422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660836"/>
            <a:ext cx="6683828" cy="89653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5"/>
          <p:cNvCxnSpPr/>
          <p:nvPr/>
        </p:nvCxnSpPr>
        <p:spPr>
          <a:xfrm>
            <a:off x="7391400" y="2324100"/>
            <a:ext cx="1524000" cy="3276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p25"/>
          <p:cNvCxnSpPr/>
          <p:nvPr/>
        </p:nvCxnSpPr>
        <p:spPr>
          <a:xfrm>
            <a:off x="7162800" y="4034003"/>
            <a:ext cx="1752600" cy="2252497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25"/>
          <p:cNvSpPr txBox="1"/>
          <p:nvPr/>
        </p:nvSpPr>
        <p:spPr>
          <a:xfrm>
            <a:off x="7666264" y="6057912"/>
            <a:ext cx="1020536" cy="457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445" lvl="0" marL="12700" marR="135255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JOIN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title"/>
          </p:nvPr>
        </p:nvSpPr>
        <p:spPr>
          <a:xfrm>
            <a:off x="945896" y="190500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5550">
            <a:spAutoFit/>
          </a:bodyPr>
          <a:lstStyle/>
          <a:p>
            <a:pPr indent="0" lvl="0" marL="27940" rtl="0" algn="l">
              <a:lnSpc>
                <a:spcPct val="1194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RELATIONSHIPS</a:t>
            </a:r>
            <a:endParaRPr/>
          </a:p>
        </p:txBody>
      </p:sp>
      <p:sp>
        <p:nvSpPr>
          <p:cNvPr id="183" name="Google Shape;183;p26"/>
          <p:cNvSpPr txBox="1"/>
          <p:nvPr>
            <p:ph idx="1" type="body"/>
          </p:nvPr>
        </p:nvSpPr>
        <p:spPr>
          <a:xfrm>
            <a:off x="652017" y="2789421"/>
            <a:ext cx="16983965" cy="6225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124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RELATIONSHIPS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BETWEEN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OBJECTS\TABLES</a:t>
            </a:r>
            <a:endParaRPr sz="3000">
              <a:latin typeface="Century"/>
              <a:ea typeface="Century"/>
              <a:cs typeface="Century"/>
              <a:sym typeface="Century"/>
            </a:endParaRPr>
          </a:p>
          <a:p>
            <a:pPr indent="0" lvl="0" marL="269240" rtl="0" algn="l">
              <a:lnSpc>
                <a:spcPct val="100000"/>
              </a:lnSpc>
              <a:spcBef>
                <a:spcPts val="33"/>
              </a:spcBef>
              <a:spcAft>
                <a:spcPts val="0"/>
              </a:spcAft>
              <a:buNone/>
            </a:pPr>
            <a:r>
              <a:t/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11785" marR="5080" rtl="0" algn="l">
              <a:lnSpc>
                <a:spcPct val="104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rows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in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given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table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can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be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associated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in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some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way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with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rows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in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another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table,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the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tables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are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said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to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have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relationship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between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them.</a:t>
            </a:r>
            <a:endParaRPr/>
          </a:p>
          <a:p>
            <a:pPr indent="0" lvl="0" marL="269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69240" rtl="0" algn="l">
              <a:lnSpc>
                <a:spcPct val="100000"/>
              </a:lnSpc>
              <a:spcBef>
                <a:spcPts val="34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48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There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are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three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types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relationships:</a:t>
            </a:r>
            <a:endParaRPr/>
          </a:p>
          <a:p>
            <a:pPr indent="-232409" lvl="0" marL="1088390" rtl="0" algn="l">
              <a:lnSpc>
                <a:spcPct val="100000"/>
              </a:lnSpc>
              <a:spcBef>
                <a:spcPts val="2125"/>
              </a:spcBef>
              <a:spcAft>
                <a:spcPts val="0"/>
              </a:spcAft>
              <a:buClr>
                <a:srgbClr val="084365"/>
              </a:buClr>
              <a:buSzPts val="2700"/>
              <a:buFont typeface="Verdana"/>
              <a:buChar char="-"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  <a:p>
            <a:pPr indent="-232409" lvl="0" marL="1088390" rtl="0" algn="l">
              <a:lnSpc>
                <a:spcPct val="100000"/>
              </a:lnSpc>
              <a:spcBef>
                <a:spcPts val="2115"/>
              </a:spcBef>
              <a:spcAft>
                <a:spcPts val="0"/>
              </a:spcAft>
              <a:buClr>
                <a:srgbClr val="084365"/>
              </a:buClr>
              <a:buSzPts val="2700"/>
              <a:buFont typeface="Verdana"/>
              <a:buChar char="-"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many</a:t>
            </a:r>
            <a:endParaRPr/>
          </a:p>
          <a:p>
            <a:pPr indent="-233679" lvl="0" marL="1089660" rtl="0" algn="l">
              <a:lnSpc>
                <a:spcPct val="100000"/>
              </a:lnSpc>
              <a:spcBef>
                <a:spcPts val="2125"/>
              </a:spcBef>
              <a:spcAft>
                <a:spcPts val="0"/>
              </a:spcAft>
              <a:buClr>
                <a:srgbClr val="084365"/>
              </a:buClr>
              <a:buSzPts val="2700"/>
              <a:buFont typeface="Verdana"/>
              <a:buChar char="-"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many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many</a:t>
            </a:r>
            <a:endParaRPr/>
          </a:p>
          <a:p>
            <a:pPr indent="0" lvl="0" marL="269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69240" rtl="0" algn="l">
              <a:lnSpc>
                <a:spcPct val="100000"/>
              </a:lnSpc>
              <a:spcBef>
                <a:spcPts val="6"/>
              </a:spcBef>
              <a:spcAft>
                <a:spcPts val="0"/>
              </a:spcAft>
              <a:buNone/>
            </a:pPr>
            <a:r>
              <a:t/>
            </a:r>
            <a:endParaRPr sz="3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1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Keys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are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special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table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construct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designed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to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denote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relationships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between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tables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/>
        </p:nvSpPr>
        <p:spPr>
          <a:xfrm>
            <a:off x="990600" y="1485900"/>
            <a:ext cx="135636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POSSIBLE RELATIONSHIPS BETWEEN TABLES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descr="Diagram, engineering drawing&#10;&#10;Description automatically generated" id="189" name="Google Shape;1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3180939"/>
            <a:ext cx="12192000" cy="392512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7"/>
          <p:cNvSpPr txBox="1"/>
          <p:nvPr/>
        </p:nvSpPr>
        <p:spPr>
          <a:xfrm>
            <a:off x="3397431" y="6921395"/>
            <a:ext cx="157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one-to-one</a:t>
            </a:r>
            <a:endParaRPr/>
          </a:p>
        </p:txBody>
      </p:sp>
      <p:sp>
        <p:nvSpPr>
          <p:cNvPr id="191" name="Google Shape;191;p27"/>
          <p:cNvSpPr txBox="1"/>
          <p:nvPr/>
        </p:nvSpPr>
        <p:spPr>
          <a:xfrm>
            <a:off x="6467202" y="6921395"/>
            <a:ext cx="157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one-to-many</a:t>
            </a:r>
            <a:endParaRPr/>
          </a:p>
        </p:txBody>
      </p:sp>
      <p:sp>
        <p:nvSpPr>
          <p:cNvPr id="192" name="Google Shape;192;p27"/>
          <p:cNvSpPr txBox="1"/>
          <p:nvPr/>
        </p:nvSpPr>
        <p:spPr>
          <a:xfrm>
            <a:off x="9487175" y="6921395"/>
            <a:ext cx="157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many-to-one</a:t>
            </a:r>
            <a:endParaRPr/>
          </a:p>
        </p:txBody>
      </p:sp>
      <p:sp>
        <p:nvSpPr>
          <p:cNvPr id="193" name="Google Shape;193;p27"/>
          <p:cNvSpPr txBox="1"/>
          <p:nvPr/>
        </p:nvSpPr>
        <p:spPr>
          <a:xfrm>
            <a:off x="12556944" y="6921395"/>
            <a:ext cx="157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many-to-many</a:t>
            </a:r>
            <a:endParaRPr/>
          </a:p>
        </p:txBody>
      </p:sp>
      <p:sp>
        <p:nvSpPr>
          <p:cNvPr id="194" name="Google Shape;194;p27"/>
          <p:cNvSpPr txBox="1"/>
          <p:nvPr/>
        </p:nvSpPr>
        <p:spPr>
          <a:xfrm>
            <a:off x="3397430" y="7369880"/>
            <a:ext cx="157162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does not cause duplicates</a:t>
            </a:r>
            <a:endParaRPr/>
          </a:p>
        </p:txBody>
      </p:sp>
      <p:sp>
        <p:nvSpPr>
          <p:cNvPr id="195" name="Google Shape;195;p27"/>
          <p:cNvSpPr txBox="1"/>
          <p:nvPr/>
        </p:nvSpPr>
        <p:spPr>
          <a:xfrm>
            <a:off x="6467202" y="7369880"/>
            <a:ext cx="15716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causes duplicates of A</a:t>
            </a:r>
            <a:endParaRPr/>
          </a:p>
        </p:txBody>
      </p:sp>
      <p:sp>
        <p:nvSpPr>
          <p:cNvPr id="196" name="Google Shape;196;p27"/>
          <p:cNvSpPr txBox="1"/>
          <p:nvPr/>
        </p:nvSpPr>
        <p:spPr>
          <a:xfrm>
            <a:off x="9487174" y="7369880"/>
            <a:ext cx="15716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causes duplicates of B</a:t>
            </a:r>
            <a:endParaRPr/>
          </a:p>
        </p:txBody>
      </p:sp>
      <p:sp>
        <p:nvSpPr>
          <p:cNvPr id="197" name="Google Shape;197;p27"/>
          <p:cNvSpPr txBox="1"/>
          <p:nvPr/>
        </p:nvSpPr>
        <p:spPr>
          <a:xfrm>
            <a:off x="12556944" y="7369880"/>
            <a:ext cx="157162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causes duplicates of A and of B</a:t>
            </a:r>
            <a:endParaRPr/>
          </a:p>
        </p:txBody>
      </p:sp>
      <p:sp>
        <p:nvSpPr>
          <p:cNvPr id="198" name="Google Shape;198;p27"/>
          <p:cNvSpPr txBox="1"/>
          <p:nvPr/>
        </p:nvSpPr>
        <p:spPr>
          <a:xfrm>
            <a:off x="4520834" y="8369174"/>
            <a:ext cx="221306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Optional relation causes losses of A in Inner joins and Right joins</a:t>
            </a:r>
            <a:endParaRPr/>
          </a:p>
        </p:txBody>
      </p:sp>
      <p:sp>
        <p:nvSpPr>
          <p:cNvPr id="199" name="Google Shape;199;p27"/>
          <p:cNvSpPr/>
          <p:nvPr/>
        </p:nvSpPr>
        <p:spPr>
          <a:xfrm>
            <a:off x="4643846" y="6659197"/>
            <a:ext cx="827314" cy="1698171"/>
          </a:xfrm>
          <a:custGeom>
            <a:rect b="b" l="l" r="r" t="t"/>
            <a:pathLst>
              <a:path extrusionOk="0" h="1698171" w="827314">
                <a:moveTo>
                  <a:pt x="0" y="0"/>
                </a:moveTo>
                <a:cubicBezTo>
                  <a:pt x="248919" y="311331"/>
                  <a:pt x="497839" y="622663"/>
                  <a:pt x="635725" y="905691"/>
                </a:cubicBezTo>
                <a:cubicBezTo>
                  <a:pt x="773611" y="1188719"/>
                  <a:pt x="800462" y="1443445"/>
                  <a:pt x="827314" y="1698171"/>
                </a:cubicBezTo>
              </a:path>
            </a:pathLst>
          </a:custGeom>
          <a:noFill/>
          <a:ln cap="flat" cmpd="sng" w="25400">
            <a:solidFill>
              <a:srgbClr val="DDD9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5828211" y="6667905"/>
            <a:ext cx="1863635" cy="1698172"/>
          </a:xfrm>
          <a:custGeom>
            <a:rect b="b" l="l" r="r" t="t"/>
            <a:pathLst>
              <a:path extrusionOk="0" h="1698172" w="1863635">
                <a:moveTo>
                  <a:pt x="1863635" y="0"/>
                </a:moveTo>
                <a:cubicBezTo>
                  <a:pt x="1696720" y="60960"/>
                  <a:pt x="1529806" y="121920"/>
                  <a:pt x="1262743" y="182880"/>
                </a:cubicBezTo>
                <a:cubicBezTo>
                  <a:pt x="995680" y="243840"/>
                  <a:pt x="471715" y="113211"/>
                  <a:pt x="261258" y="365760"/>
                </a:cubicBezTo>
                <a:cubicBezTo>
                  <a:pt x="50801" y="618309"/>
                  <a:pt x="25400" y="1158240"/>
                  <a:pt x="0" y="1698172"/>
                </a:cubicBezTo>
              </a:path>
            </a:pathLst>
          </a:custGeom>
          <a:noFill/>
          <a:ln cap="flat" cmpd="sng" w="25400">
            <a:solidFill>
              <a:srgbClr val="DDD9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10669087" y="8354173"/>
            <a:ext cx="221306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Mandatory relation prevents losses of A in Inner joins and Right joins</a:t>
            </a:r>
            <a:endParaRPr/>
          </a:p>
        </p:txBody>
      </p:sp>
      <p:sp>
        <p:nvSpPr>
          <p:cNvPr id="202" name="Google Shape;202;p27"/>
          <p:cNvSpPr/>
          <p:nvPr/>
        </p:nvSpPr>
        <p:spPr>
          <a:xfrm>
            <a:off x="10780939" y="6669454"/>
            <a:ext cx="827314" cy="1698171"/>
          </a:xfrm>
          <a:custGeom>
            <a:rect b="b" l="l" r="r" t="t"/>
            <a:pathLst>
              <a:path extrusionOk="0" h="1698171" w="827314">
                <a:moveTo>
                  <a:pt x="0" y="0"/>
                </a:moveTo>
                <a:cubicBezTo>
                  <a:pt x="248919" y="311331"/>
                  <a:pt x="497839" y="622663"/>
                  <a:pt x="635725" y="905691"/>
                </a:cubicBezTo>
                <a:cubicBezTo>
                  <a:pt x="773611" y="1188719"/>
                  <a:pt x="800462" y="1443445"/>
                  <a:pt x="827314" y="1698171"/>
                </a:cubicBezTo>
              </a:path>
            </a:pathLst>
          </a:custGeom>
          <a:noFill/>
          <a:ln cap="flat" cmpd="sng" w="25400">
            <a:solidFill>
              <a:srgbClr val="DDD9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11965304" y="6678162"/>
            <a:ext cx="1863635" cy="1698172"/>
          </a:xfrm>
          <a:custGeom>
            <a:rect b="b" l="l" r="r" t="t"/>
            <a:pathLst>
              <a:path extrusionOk="0" h="1698172" w="1863635">
                <a:moveTo>
                  <a:pt x="1863635" y="0"/>
                </a:moveTo>
                <a:cubicBezTo>
                  <a:pt x="1696720" y="60960"/>
                  <a:pt x="1529806" y="121920"/>
                  <a:pt x="1262743" y="182880"/>
                </a:cubicBezTo>
                <a:cubicBezTo>
                  <a:pt x="995680" y="243840"/>
                  <a:pt x="471715" y="113211"/>
                  <a:pt x="261258" y="365760"/>
                </a:cubicBezTo>
                <a:cubicBezTo>
                  <a:pt x="50801" y="618309"/>
                  <a:pt x="25400" y="1158240"/>
                  <a:pt x="0" y="1698172"/>
                </a:cubicBezTo>
              </a:path>
            </a:pathLst>
          </a:custGeom>
          <a:noFill/>
          <a:ln cap="flat" cmpd="sng" w="25400">
            <a:solidFill>
              <a:srgbClr val="DDD9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/>
          <p:nvPr/>
        </p:nvSpPr>
        <p:spPr>
          <a:xfrm>
            <a:off x="6364194" y="2988773"/>
            <a:ext cx="17776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Directors to films</a:t>
            </a:r>
            <a:endParaRPr/>
          </a:p>
        </p:txBody>
      </p:sp>
      <p:sp>
        <p:nvSpPr>
          <p:cNvPr id="205" name="Google Shape;205;p27"/>
          <p:cNvSpPr txBox="1"/>
          <p:nvPr/>
        </p:nvSpPr>
        <p:spPr>
          <a:xfrm>
            <a:off x="12453936" y="2974112"/>
            <a:ext cx="17776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Actors to films</a:t>
            </a:r>
            <a:endParaRPr/>
          </a:p>
        </p:txBody>
      </p:sp>
      <p:sp>
        <p:nvSpPr>
          <p:cNvPr id="206" name="Google Shape;206;p27"/>
          <p:cNvSpPr txBox="1"/>
          <p:nvPr/>
        </p:nvSpPr>
        <p:spPr>
          <a:xfrm>
            <a:off x="9313816" y="2974112"/>
            <a:ext cx="19681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Films to Directors</a:t>
            </a:r>
            <a:endParaRPr/>
          </a:p>
        </p:txBody>
      </p:sp>
      <p:sp>
        <p:nvSpPr>
          <p:cNvPr id="207" name="Google Shape;207;p27"/>
          <p:cNvSpPr txBox="1"/>
          <p:nvPr/>
        </p:nvSpPr>
        <p:spPr>
          <a:xfrm>
            <a:off x="3163389" y="2996273"/>
            <a:ext cx="23948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to Tax numbers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/>
        </p:nvSpPr>
        <p:spPr>
          <a:xfrm>
            <a:off x="921512" y="1638300"/>
            <a:ext cx="1058468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QUERIES – Scripting vs QUERYING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descr="A black background with a black square&#10;&#10;Description automatically generated with medium confidence" id="213" name="Google Shape;21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37534" y="3924300"/>
            <a:ext cx="3691037" cy="3691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a black square&#10;&#10;Description automatically generated with medium confidence" id="214" name="Google Shape;21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1200" y="3924300"/>
            <a:ext cx="3669268" cy="3669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t dog - Wikipedia" id="215" name="Google Shape;21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3880" y="4533900"/>
            <a:ext cx="4076700" cy="199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8"/>
          <p:cNvSpPr txBox="1"/>
          <p:nvPr/>
        </p:nvSpPr>
        <p:spPr>
          <a:xfrm>
            <a:off x="1066800" y="2887742"/>
            <a:ext cx="7186930" cy="42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0369" lvl="0" marL="4330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Lets say we want to build a HotDog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/>
        </p:nvSpPr>
        <p:spPr>
          <a:xfrm>
            <a:off x="921512" y="1638300"/>
            <a:ext cx="1058468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QUERIES – Scripting vs QUERYING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descr="A black background with a black square&#10;&#10;Description automatically generated with medium confidence" id="222" name="Google Shape;2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37534" y="3924300"/>
            <a:ext cx="3691037" cy="3691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a black square&#10;&#10;Description automatically generated with medium confidence" id="223" name="Google Shape;22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5400" y="5223466"/>
            <a:ext cx="17526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t dog - Wikipedia" id="224" name="Google Shape;22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6800" y="8343900"/>
            <a:ext cx="2606294" cy="127472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9"/>
          <p:cNvSpPr txBox="1"/>
          <p:nvPr/>
        </p:nvSpPr>
        <p:spPr>
          <a:xfrm>
            <a:off x="1066800" y="2887742"/>
            <a:ext cx="7186930" cy="42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0369" lvl="0" marL="4330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SCRIPTING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Ranking 12 Hot Dog Bun Brands From ..." id="226" name="Google Shape;22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6645945">
            <a:off x="4942372" y="3040059"/>
            <a:ext cx="1416191" cy="21281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udson's Hot Dog Sausages | In-Store ..." id="227" name="Google Shape;227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02867" y="4559300"/>
            <a:ext cx="1739900" cy="116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einz Yellow Mustard 368G – House Of ..." id="228" name="Google Shape;228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50922" y="2775609"/>
            <a:ext cx="1783691" cy="178369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9"/>
          <p:cNvSpPr/>
          <p:nvPr/>
        </p:nvSpPr>
        <p:spPr>
          <a:xfrm>
            <a:off x="6324600" y="3667454"/>
            <a:ext cx="5638800" cy="124744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29"/>
          <p:cNvCxnSpPr/>
          <p:nvPr/>
        </p:nvCxnSpPr>
        <p:spPr>
          <a:xfrm flipH="1">
            <a:off x="3048000" y="4914900"/>
            <a:ext cx="1127506" cy="812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1" name="Google Shape;231;p29"/>
          <p:cNvCxnSpPr/>
          <p:nvPr/>
        </p:nvCxnSpPr>
        <p:spPr>
          <a:xfrm>
            <a:off x="2171700" y="7208937"/>
            <a:ext cx="0" cy="753963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/>
          <p:nvPr/>
        </p:nvSpPr>
        <p:spPr>
          <a:xfrm>
            <a:off x="375412" y="7342551"/>
            <a:ext cx="7600188" cy="27561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0"/>
          <p:cNvSpPr txBox="1"/>
          <p:nvPr/>
        </p:nvSpPr>
        <p:spPr>
          <a:xfrm>
            <a:off x="921512" y="1638300"/>
            <a:ext cx="1058468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QUERIES – Scripting vs QUERYING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descr="A black background with a black square&#10;&#10;Description automatically generated with medium confidence" id="238" name="Google Shape;23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37534" y="3924300"/>
            <a:ext cx="3691037" cy="3691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a black square&#10;&#10;Description automatically generated with medium confidence" id="239" name="Google Shape;23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5400" y="5223466"/>
            <a:ext cx="175260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0"/>
          <p:cNvSpPr txBox="1"/>
          <p:nvPr/>
        </p:nvSpPr>
        <p:spPr>
          <a:xfrm>
            <a:off x="1066800" y="2887742"/>
            <a:ext cx="7186930" cy="42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0369" lvl="0" marL="4330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SCRIPTING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1" name="Google Shape;241;p30"/>
          <p:cNvSpPr/>
          <p:nvPr/>
        </p:nvSpPr>
        <p:spPr>
          <a:xfrm>
            <a:off x="6324600" y="3667454"/>
            <a:ext cx="5638800" cy="124744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30"/>
          <p:cNvCxnSpPr/>
          <p:nvPr/>
        </p:nvCxnSpPr>
        <p:spPr>
          <a:xfrm flipH="1">
            <a:off x="3048000" y="4914900"/>
            <a:ext cx="1127506" cy="812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3" name="Google Shape;243;p30"/>
          <p:cNvCxnSpPr/>
          <p:nvPr/>
        </p:nvCxnSpPr>
        <p:spPr>
          <a:xfrm>
            <a:off x="2171700" y="6498523"/>
            <a:ext cx="0" cy="753963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4" name="Google Shape;244;p30"/>
          <p:cNvSpPr txBox="1"/>
          <p:nvPr/>
        </p:nvSpPr>
        <p:spPr>
          <a:xfrm>
            <a:off x="5002430" y="3955750"/>
            <a:ext cx="3404090" cy="42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pd.read_csv()</a:t>
            </a:r>
            <a:endParaRPr/>
          </a:p>
        </p:txBody>
      </p:sp>
      <p:sp>
        <p:nvSpPr>
          <p:cNvPr id="245" name="Google Shape;245;p30"/>
          <p:cNvSpPr txBox="1"/>
          <p:nvPr/>
        </p:nvSpPr>
        <p:spPr>
          <a:xfrm>
            <a:off x="3174781" y="5982908"/>
            <a:ext cx="3404090" cy="1269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pd.groupby()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pd.filtering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etc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/>
        </p:nvSpPr>
        <p:spPr>
          <a:xfrm>
            <a:off x="921512" y="1638300"/>
            <a:ext cx="1058468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QUERIES – Scripting vs QUERYING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descr="A black background with a black square&#10;&#10;Description automatically generated with medium confidence" id="251" name="Google Shape;25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03490" y="2985437"/>
            <a:ext cx="5966936" cy="59669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a black square&#10;&#10;Description automatically generated with medium confidence" id="252" name="Google Shape;25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5400" y="5223466"/>
            <a:ext cx="17526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t dog - Wikipedia" id="253" name="Google Shape;25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0" y="7292444"/>
            <a:ext cx="2606294" cy="127472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1"/>
          <p:cNvSpPr txBox="1"/>
          <p:nvPr/>
        </p:nvSpPr>
        <p:spPr>
          <a:xfrm>
            <a:off x="1066800" y="2887742"/>
            <a:ext cx="7186930" cy="42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0369" lvl="0" marL="4330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QUERYING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Ranking 12 Hot Dog Bun Brands From ..." id="255" name="Google Shape;255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6645945">
            <a:off x="15105065" y="3365376"/>
            <a:ext cx="1416191" cy="21281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udson's Hot Dog Sausages | In-Store ..." id="256" name="Google Shape;256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124943" y="3064903"/>
            <a:ext cx="1739900" cy="116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einz Yellow Mustard 368G – House Of ..." id="257" name="Google Shape;257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038772" y="3908115"/>
            <a:ext cx="1783691" cy="178369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1"/>
          <p:cNvSpPr/>
          <p:nvPr/>
        </p:nvSpPr>
        <p:spPr>
          <a:xfrm>
            <a:off x="2171700" y="4269723"/>
            <a:ext cx="10287000" cy="1247446"/>
          </a:xfrm>
          <a:prstGeom prst="arc">
            <a:avLst>
              <a:gd fmla="val 10881354" name="adj1"/>
              <a:gd fmla="val 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31"/>
          <p:cNvCxnSpPr/>
          <p:nvPr/>
        </p:nvCxnSpPr>
        <p:spPr>
          <a:xfrm rot="10800000">
            <a:off x="3810000" y="6924087"/>
            <a:ext cx="7924800" cy="51979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0" name="Google Shape;260;p31"/>
          <p:cNvSpPr txBox="1"/>
          <p:nvPr/>
        </p:nvSpPr>
        <p:spPr>
          <a:xfrm>
            <a:off x="4840584" y="4588363"/>
            <a:ext cx="7186930" cy="42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 want a hotdog with mustard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 txBox="1"/>
          <p:nvPr/>
        </p:nvSpPr>
        <p:spPr>
          <a:xfrm>
            <a:off x="921512" y="1638300"/>
            <a:ext cx="1058468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QUERIES – Scripting vs QUERYING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descr="A black background with a black square&#10;&#10;Description automatically generated with medium confidence" id="266" name="Google Shape;26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03490" y="2985437"/>
            <a:ext cx="5966936" cy="59669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a black square&#10;&#10;Description automatically generated with medium confidence" id="267" name="Google Shape;26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5400" y="5223466"/>
            <a:ext cx="175260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2"/>
          <p:cNvSpPr txBox="1"/>
          <p:nvPr/>
        </p:nvSpPr>
        <p:spPr>
          <a:xfrm>
            <a:off x="1066800" y="2887742"/>
            <a:ext cx="7186930" cy="42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0369" lvl="0" marL="4330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QUERYING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9" name="Google Shape;269;p32"/>
          <p:cNvSpPr/>
          <p:nvPr/>
        </p:nvSpPr>
        <p:spPr>
          <a:xfrm>
            <a:off x="2171700" y="4269723"/>
            <a:ext cx="10287000" cy="1247446"/>
          </a:xfrm>
          <a:prstGeom prst="arc">
            <a:avLst>
              <a:gd fmla="val 10881354" name="adj1"/>
              <a:gd fmla="val 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32"/>
          <p:cNvCxnSpPr/>
          <p:nvPr/>
        </p:nvCxnSpPr>
        <p:spPr>
          <a:xfrm rot="10800000">
            <a:off x="3810000" y="6924087"/>
            <a:ext cx="7924800" cy="51979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1" name="Google Shape;271;p32"/>
          <p:cNvSpPr txBox="1"/>
          <p:nvPr/>
        </p:nvSpPr>
        <p:spPr>
          <a:xfrm>
            <a:off x="4840584" y="4588363"/>
            <a:ext cx="7186930" cy="42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 want data in a specific way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2" name="Google Shape;272;p32"/>
          <p:cNvSpPr txBox="1"/>
          <p:nvPr/>
        </p:nvSpPr>
        <p:spPr>
          <a:xfrm>
            <a:off x="13561876" y="4376767"/>
            <a:ext cx="3404090" cy="12695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groupby()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filtering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3" name="Google Shape;273;p32"/>
          <p:cNvSpPr/>
          <p:nvPr/>
        </p:nvSpPr>
        <p:spPr>
          <a:xfrm>
            <a:off x="3668678" y="7270603"/>
            <a:ext cx="7600188" cy="275619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/>
          <p:nvPr/>
        </p:nvSpPr>
        <p:spPr>
          <a:xfrm>
            <a:off x="921512" y="1638300"/>
            <a:ext cx="295973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QUERIES</a:t>
            </a:r>
            <a:r>
              <a:rPr lang="en-GB" sz="4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I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79" name="Google Shape;279;p33"/>
          <p:cNvSpPr txBox="1"/>
          <p:nvPr/>
        </p:nvSpPr>
        <p:spPr>
          <a:xfrm>
            <a:off x="1150112" y="3265786"/>
            <a:ext cx="7186930" cy="37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0369" lvl="0" marL="4330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Retrieving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information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0" name="Google Shape;280;p33"/>
          <p:cNvSpPr txBox="1"/>
          <p:nvPr/>
        </p:nvSpPr>
        <p:spPr>
          <a:xfrm>
            <a:off x="1150112" y="4850747"/>
            <a:ext cx="10095230" cy="37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0369" lvl="0" marL="4330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You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have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specify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which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table(s)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you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want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information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1" name="Google Shape;281;p33"/>
          <p:cNvSpPr txBox="1"/>
          <p:nvPr/>
        </p:nvSpPr>
        <p:spPr>
          <a:xfrm>
            <a:off x="1150112" y="6436089"/>
            <a:ext cx="9972040" cy="37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0369" lvl="0" marL="4330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What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criteria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returned?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filters?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2" name="Google Shape;282;p33"/>
          <p:cNvSpPr txBox="1"/>
          <p:nvPr/>
        </p:nvSpPr>
        <p:spPr>
          <a:xfrm>
            <a:off x="1150112" y="7642971"/>
            <a:ext cx="6724650" cy="37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0369" lvl="0" marL="4330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How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manipulate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resulting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fields?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/>
        </p:nvSpPr>
        <p:spPr>
          <a:xfrm>
            <a:off x="948944" y="1333500"/>
            <a:ext cx="4032885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SELECT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STATEMENT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288" name="Google Shape;288;p34"/>
          <p:cNvSpPr txBox="1"/>
          <p:nvPr/>
        </p:nvSpPr>
        <p:spPr>
          <a:xfrm>
            <a:off x="948944" y="3314700"/>
            <a:ext cx="7830184" cy="444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sakila.film;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289818"/>
              </a:lnSpc>
              <a:spcBef>
                <a:spcPts val="103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title,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description,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rating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sakila.film;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DISTINCT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rental_duration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238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sakila.film;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6"/>
              </a:spcBef>
              <a:spcAft>
                <a:spcPts val="0"/>
              </a:spcAft>
              <a:buNone/>
            </a:pPr>
            <a:r>
              <a:t/>
            </a:r>
            <a:endParaRPr sz="3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" lvl="0" marL="32384" marR="116204" rtl="0" algn="l">
              <a:lnSpc>
                <a:spcPct val="12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DISTINCT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rental_duration,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language_id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sakila.film;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/>
        </p:nvSpPr>
        <p:spPr>
          <a:xfrm>
            <a:off x="16147555" y="1033010"/>
            <a:ext cx="1882139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Squad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|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SQL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4" name="Google Shape;294;p35"/>
          <p:cNvSpPr txBox="1"/>
          <p:nvPr>
            <p:ph type="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0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ORDER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/>
              <a:t>BY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35"/>
          <p:cNvSpPr txBox="1"/>
          <p:nvPr/>
        </p:nvSpPr>
        <p:spPr>
          <a:xfrm>
            <a:off x="951992" y="3800673"/>
            <a:ext cx="5104765" cy="1293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title,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rental_rate,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length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sakila.film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ORDER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length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DESC;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6" name="Google Shape;296;p35"/>
          <p:cNvSpPr txBox="1"/>
          <p:nvPr/>
        </p:nvSpPr>
        <p:spPr>
          <a:xfrm>
            <a:off x="951992" y="6557853"/>
            <a:ext cx="6847205" cy="1294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1746885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title,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rental_rate,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length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sakila.film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ORDER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length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DESC,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rental_rate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DESC;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 txBox="1"/>
          <p:nvPr>
            <p:ph type="title"/>
          </p:nvPr>
        </p:nvSpPr>
        <p:spPr>
          <a:xfrm>
            <a:off x="945896" y="571500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9475">
            <a:spAutoFit/>
          </a:bodyPr>
          <a:lstStyle/>
          <a:p>
            <a:pPr indent="0" lvl="0" marL="184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ALIASING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/>
              <a:t>and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/>
              <a:t>COMPUTATIONS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36"/>
          <p:cNvSpPr txBox="1"/>
          <p:nvPr/>
        </p:nvSpPr>
        <p:spPr>
          <a:xfrm>
            <a:off x="951992" y="3418385"/>
            <a:ext cx="10378440" cy="5503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3991609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title,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rental_rate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cost,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length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sakila.film;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224409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title,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rental_rate/length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price_per_min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sakila.film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ORDER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price_per_min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ASC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8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2113280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CONCAT(title,',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rating:',rating)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descriptor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sakila.film;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"/>
              </a:spcBef>
              <a:spcAft>
                <a:spcPts val="0"/>
              </a:spcAft>
              <a:buNone/>
            </a:pPr>
            <a:r>
              <a:t/>
            </a:r>
            <a:endParaRPr sz="3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https:</a:t>
            </a:r>
            <a:r>
              <a:rPr lang="en-GB" sz="3000" u="sng">
                <a:solidFill>
                  <a:schemeClr val="hlink"/>
                </a:solidFill>
                <a:latin typeface="Century"/>
                <a:ea typeface="Century"/>
                <a:cs typeface="Century"/>
                <a:sym typeface="Century"/>
                <a:hlinkClick r:id="rId3"/>
              </a:rPr>
              <a:t>//www.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w3</a:t>
            </a:r>
            <a:r>
              <a:rPr lang="en-GB" sz="3000" u="sng">
                <a:solidFill>
                  <a:schemeClr val="hlink"/>
                </a:solidFill>
                <a:latin typeface="Century"/>
                <a:ea typeface="Century"/>
                <a:cs typeface="Century"/>
                <a:sym typeface="Century"/>
                <a:hlinkClick r:id="rId4"/>
              </a:rPr>
              <a:t>schools.com/sql/sql_ref_sqlserver.asp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7"/>
          <p:cNvSpPr/>
          <p:nvPr/>
        </p:nvSpPr>
        <p:spPr>
          <a:xfrm>
            <a:off x="8734440" y="4648818"/>
            <a:ext cx="8077200" cy="425769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7"/>
          <p:cNvSpPr txBox="1"/>
          <p:nvPr/>
        </p:nvSpPr>
        <p:spPr>
          <a:xfrm>
            <a:off x="951992" y="2986795"/>
            <a:ext cx="1077595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WHERE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-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HOW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TO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RETRIEVE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DATA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FROM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SPECIFIC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ROWS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09" name="Google Shape;309;p37"/>
          <p:cNvSpPr txBox="1"/>
          <p:nvPr/>
        </p:nvSpPr>
        <p:spPr>
          <a:xfrm>
            <a:off x="1020572" y="4855543"/>
            <a:ext cx="4508500" cy="1293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sakila.film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WHERE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rental_duration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6;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8"/>
          <p:cNvSpPr txBox="1"/>
          <p:nvPr>
            <p:ph type="title"/>
          </p:nvPr>
        </p:nvSpPr>
        <p:spPr>
          <a:xfrm>
            <a:off x="838200" y="190500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6075">
            <a:spAutoFit/>
          </a:bodyPr>
          <a:lstStyle/>
          <a:p>
            <a:pPr indent="0" lvl="0" marL="184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AGGREGATIONS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/>
              <a:t>AND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/>
              <a:t>GROUP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/>
              <a:t>BY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38"/>
          <p:cNvSpPr txBox="1"/>
          <p:nvPr/>
        </p:nvSpPr>
        <p:spPr>
          <a:xfrm>
            <a:off x="914400" y="3163878"/>
            <a:ext cx="14066519" cy="812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COUNT(*),MAX(rental_duration),AVG(replacement_cost),AVG(rental_duration)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sakila.film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6" name="Google Shape;316;p38"/>
          <p:cNvSpPr txBox="1"/>
          <p:nvPr/>
        </p:nvSpPr>
        <p:spPr>
          <a:xfrm>
            <a:off x="914400" y="5348033"/>
            <a:ext cx="10555605" cy="3430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2708275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rating,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COUNT(rating),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AVG(rental_rate)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sakila.film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GROUP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rating;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4"/>
              </a:spcBef>
              <a:spcAft>
                <a:spcPts val="0"/>
              </a:spcAft>
              <a:buNone/>
            </a:pPr>
            <a:r>
              <a:t/>
            </a:r>
            <a:endParaRPr sz="3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rating,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rental_duration,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COUNT(rating),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AVG(rental_rate)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sakila.film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GROUP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rating,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rental_duration;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 txBox="1"/>
          <p:nvPr>
            <p:ph type="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18650">
            <a:spAutoFit/>
          </a:bodyPr>
          <a:lstStyle/>
          <a:p>
            <a:pPr indent="0" lvl="0" marL="27940" rtl="0" algn="l">
              <a:lnSpc>
                <a:spcPct val="1194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INNER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JOIN</a:t>
            </a:r>
            <a:endParaRPr/>
          </a:p>
        </p:txBody>
      </p:sp>
      <p:sp>
        <p:nvSpPr>
          <p:cNvPr id="322" name="Google Shape;322;p39"/>
          <p:cNvSpPr txBox="1"/>
          <p:nvPr/>
        </p:nvSpPr>
        <p:spPr>
          <a:xfrm>
            <a:off x="951992" y="2668406"/>
            <a:ext cx="15106650" cy="7263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RETURNS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ROWS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FROM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BOTH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TABLES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WHERE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MATCHING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VALUES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ARE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FOUND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IN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JOINED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COLUMNS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OF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BOTH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TABLES.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3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55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7625" marR="11647170" rtl="0" algn="l">
              <a:lnSpc>
                <a:spcPct val="12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Table_A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INNER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JOIN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Table_B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5560" marR="0" rtl="0" algn="l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Table_A.Key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Table_B.Key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5560" marR="5243830" rtl="0" algn="l">
              <a:lnSpc>
                <a:spcPct val="104400"/>
              </a:lnSpc>
              <a:spcBef>
                <a:spcPts val="159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world.country.Name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Country_Name,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world.city.Name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City_Name,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world.country.GNP/world.city.Population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GNP_per_capita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5560" marR="11494770" rtl="0" algn="l">
              <a:lnSpc>
                <a:spcPct val="14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world.country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INNER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JOIN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world.city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5560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world.country.Code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world.city.CountryCode;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3" name="Google Shape;323;p39"/>
          <p:cNvSpPr/>
          <p:nvPr/>
        </p:nvSpPr>
        <p:spPr>
          <a:xfrm>
            <a:off x="10665469" y="3177524"/>
            <a:ext cx="6915150" cy="446724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0"/>
          <p:cNvSpPr txBox="1"/>
          <p:nvPr>
            <p:ph type="title"/>
          </p:nvPr>
        </p:nvSpPr>
        <p:spPr>
          <a:xfrm>
            <a:off x="945896" y="342900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7400">
            <a:spAutoFit/>
          </a:bodyPr>
          <a:lstStyle/>
          <a:p>
            <a:pPr indent="0" lvl="0" marL="27940" rtl="0" algn="l">
              <a:lnSpc>
                <a:spcPct val="1194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KEYS</a:t>
            </a:r>
            <a:endParaRPr/>
          </a:p>
        </p:txBody>
      </p:sp>
      <p:sp>
        <p:nvSpPr>
          <p:cNvPr id="329" name="Google Shape;329;p40"/>
          <p:cNvSpPr txBox="1"/>
          <p:nvPr/>
        </p:nvSpPr>
        <p:spPr>
          <a:xfrm>
            <a:off x="951992" y="2544057"/>
            <a:ext cx="41109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PRIMARY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VS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FOREIGN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30" name="Google Shape;330;p40"/>
          <p:cNvSpPr txBox="1"/>
          <p:nvPr/>
        </p:nvSpPr>
        <p:spPr>
          <a:xfrm>
            <a:off x="936747" y="4116632"/>
            <a:ext cx="15647035" cy="5658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19685" lvl="0" marL="12700" marR="265430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Every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your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should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have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primary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primary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consists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column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that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uniquely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identifies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each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within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145" marR="0" rtl="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primary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key: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1775" lvl="0" marL="257809" marR="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Verdana"/>
              <a:buChar char="-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identifies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specific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throughout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entire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database,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1775" lvl="0" marL="257809" marR="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Verdana"/>
              <a:buChar char="-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its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column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identifies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given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throughout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entire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1775" lvl="0" marL="257809" marR="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Verdana"/>
              <a:buChar char="-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enforce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table-level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integrity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help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establish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relationships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with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other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tables.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None/>
            </a:pPr>
            <a:r>
              <a:t/>
            </a:r>
            <a:endParaRPr sz="3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445" lvl="0" marL="12700" marR="5080" rtl="0" algn="l">
              <a:lnSpc>
                <a:spcPct val="12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When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you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determine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that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pair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has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relationship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each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other,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you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typically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establish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relationship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taking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copy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primary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first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inserting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endParaRPr sz="2750">
              <a:solidFill>
                <a:srgbClr val="08436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445" lvl="0" marL="12700" marR="5080" rtl="0" algn="l">
              <a:lnSpc>
                <a:spcPct val="12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second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where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becomes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foreign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1"/>
          <p:cNvSpPr txBox="1"/>
          <p:nvPr/>
        </p:nvSpPr>
        <p:spPr>
          <a:xfrm>
            <a:off x="951992" y="2676290"/>
            <a:ext cx="106172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RELATIONAL</a:t>
            </a:r>
            <a:r>
              <a:rPr lang="en-GB" sz="4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DATABASE</a:t>
            </a:r>
            <a:r>
              <a:rPr lang="en-GB" sz="4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SCHEMAS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36" name="Google Shape;336;p41"/>
          <p:cNvSpPr txBox="1"/>
          <p:nvPr/>
        </p:nvSpPr>
        <p:spPr>
          <a:xfrm>
            <a:off x="1150112" y="4552977"/>
            <a:ext cx="6088380" cy="2939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41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Entity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Diagram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(ERD)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365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41300" marR="5080" rtl="0" algn="l">
              <a:lnSpc>
                <a:spcPct val="152800"/>
              </a:lnSpc>
              <a:spcBef>
                <a:spcPts val="182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Shows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content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each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connections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between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within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schema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7" name="Google Shape;337;p41"/>
          <p:cNvSpPr txBox="1"/>
          <p:nvPr/>
        </p:nvSpPr>
        <p:spPr>
          <a:xfrm>
            <a:off x="1150112" y="8698903"/>
            <a:ext cx="7061200" cy="37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0369" lvl="0" marL="4330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365"/>
              </a:buClr>
              <a:buSzPts val="2750"/>
              <a:buFont typeface="Arial"/>
              <a:buChar char="●"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Primary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Foreign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visual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here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8" name="Google Shape;338;p41"/>
          <p:cNvSpPr/>
          <p:nvPr/>
        </p:nvSpPr>
        <p:spPr>
          <a:xfrm>
            <a:off x="10871210" y="4346448"/>
            <a:ext cx="5619750" cy="51237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2"/>
          <p:cNvSpPr txBox="1"/>
          <p:nvPr>
            <p:ph type="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5175">
            <a:spAutoFit/>
          </a:bodyPr>
          <a:lstStyle/>
          <a:p>
            <a:pPr indent="0" lvl="0" marL="18415" rtl="0" algn="l">
              <a:lnSpc>
                <a:spcPct val="1194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ONE-TO-ONE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RELATIONSHIP</a:t>
            </a:r>
            <a:endParaRPr/>
          </a:p>
        </p:txBody>
      </p:sp>
      <p:sp>
        <p:nvSpPr>
          <p:cNvPr id="344" name="Google Shape;344;p42"/>
          <p:cNvSpPr txBox="1"/>
          <p:nvPr/>
        </p:nvSpPr>
        <p:spPr>
          <a:xfrm>
            <a:off x="941324" y="2955299"/>
            <a:ext cx="16274415" cy="65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2212340" rtl="0" algn="l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SINGLE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ROW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IN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FIRST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TABLE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IS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RELATED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TO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ONLY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ONE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ROW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IN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SECOND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TABLE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4"/>
              </a:spcBef>
              <a:spcAft>
                <a:spcPts val="0"/>
              </a:spcAft>
              <a:buNone/>
            </a:pPr>
            <a:r>
              <a:t/>
            </a:r>
            <a:endParaRPr sz="2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806450" rtl="0" algn="l">
              <a:lnSpc>
                <a:spcPct val="103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pair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has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one-to-one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relationship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when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single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first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only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second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single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second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only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first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"/>
              </a:spcBef>
              <a:spcAft>
                <a:spcPts val="0"/>
              </a:spcAft>
              <a:buNone/>
            </a:pPr>
            <a:r>
              <a:t/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27305" lvl="0" marL="36830" marR="5080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type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relationship,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referred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primary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other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referred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secondary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You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establish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relationship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taking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primary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primary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inserting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secondary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where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becomes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foreign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special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type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relationship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because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nearly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all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cases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foreign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also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acts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primary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secondary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4135" marR="0" rtl="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(e.g.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citizen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passport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nr.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Notice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not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all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citizens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have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passport)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/>
          <p:nvPr>
            <p:ph type="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18650">
            <a:spAutoFit/>
          </a:bodyPr>
          <a:lstStyle/>
          <a:p>
            <a:pPr indent="0" lvl="0" marL="18415" rtl="0" algn="l">
              <a:lnSpc>
                <a:spcPct val="1194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ONE-TO-MANY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RELATIONSHIP</a:t>
            </a:r>
            <a:endParaRPr/>
          </a:p>
        </p:txBody>
      </p:sp>
      <p:sp>
        <p:nvSpPr>
          <p:cNvPr id="350" name="Google Shape;350;p43"/>
          <p:cNvSpPr txBox="1"/>
          <p:nvPr/>
        </p:nvSpPr>
        <p:spPr>
          <a:xfrm>
            <a:off x="945896" y="2668406"/>
            <a:ext cx="13575030" cy="842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350" lvl="0" marL="18415" marR="5080" rtl="0" algn="l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ONE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ROW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IN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ONE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TABLE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HAS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RELATIONSHIP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WITH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MULTIPLE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ROWS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IN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ANOTHER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TABLE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51" name="Google Shape;351;p43"/>
          <p:cNvSpPr txBox="1"/>
          <p:nvPr/>
        </p:nvSpPr>
        <p:spPr>
          <a:xfrm>
            <a:off x="965708" y="4995743"/>
            <a:ext cx="15854044" cy="444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445" lvl="0" marL="12700" marR="5080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When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pair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has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one-to-many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relationship,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single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first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can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many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second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but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single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second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can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only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first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"/>
              </a:spcBef>
              <a:spcAft>
                <a:spcPts val="0"/>
              </a:spcAft>
              <a:buNone/>
            </a:pPr>
            <a:r>
              <a:t/>
            </a:r>
            <a:endParaRPr sz="3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2539" lvl="0" marL="15240" marR="979805" rtl="0" algn="l">
              <a:lnSpc>
                <a:spcPct val="12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relationship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established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taking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primary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“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one</a:t>
            </a:r>
            <a:r>
              <a:rPr i="1"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”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side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inserting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“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many</a:t>
            </a:r>
            <a:r>
              <a:rPr i="1"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”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side,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where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becomes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foreign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case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second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has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also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its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own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primary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15" marR="0" rtl="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(e.g.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city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country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-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world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database)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4"/>
          <p:cNvSpPr txBox="1"/>
          <p:nvPr>
            <p:ph type="title"/>
          </p:nvPr>
        </p:nvSpPr>
        <p:spPr>
          <a:xfrm>
            <a:off x="945896" y="342900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0300">
            <a:spAutoFit/>
          </a:bodyPr>
          <a:lstStyle/>
          <a:p>
            <a:pPr indent="0" lvl="0" marL="27940" rtl="0" algn="l">
              <a:lnSpc>
                <a:spcPct val="1194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MANY-TO-MANY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RELATIONSHIP</a:t>
            </a:r>
            <a:endParaRPr/>
          </a:p>
        </p:txBody>
      </p:sp>
      <p:sp>
        <p:nvSpPr>
          <p:cNvPr id="357" name="Google Shape;357;p44"/>
          <p:cNvSpPr txBox="1"/>
          <p:nvPr/>
        </p:nvSpPr>
        <p:spPr>
          <a:xfrm>
            <a:off x="951992" y="2153912"/>
            <a:ext cx="16162655" cy="6510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1705610" rtl="0" algn="l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MANY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ROWS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IN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ONE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TABLE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HAVE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RELATIONSHIP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WITH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MULTIPLE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ROWS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IN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ANOTHER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TABLE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9"/>
              </a:spcBef>
              <a:spcAft>
                <a:spcPts val="0"/>
              </a:spcAft>
              <a:buNone/>
            </a:pPr>
            <a:r>
              <a:t/>
            </a:r>
            <a:endParaRPr sz="2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1334770" rtl="0" algn="l">
              <a:lnSpc>
                <a:spcPct val="10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pair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many-to-many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relationship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when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single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first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can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many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second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single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second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can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many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first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"/>
              </a:spcBef>
              <a:spcAft>
                <a:spcPts val="0"/>
              </a:spcAft>
              <a:buNone/>
            </a:pPr>
            <a:r>
              <a:t/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5715" lvl="0" marL="26034" marR="5080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establish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relationship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properly,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you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typically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create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what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known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linking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provides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easy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way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associate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with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those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other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will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help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ensure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that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you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have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problems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adding,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deleting,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modifying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You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define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linking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taking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copy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primary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each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relationship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using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structure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new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columns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actually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serve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two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distinct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roles: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Together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composite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primary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linking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separately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each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serve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foreign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key.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8" name="Google Shape;358;p44"/>
          <p:cNvSpPr txBox="1"/>
          <p:nvPr/>
        </p:nvSpPr>
        <p:spPr>
          <a:xfrm>
            <a:off x="924330" y="8801100"/>
            <a:ext cx="445262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(e.g.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actor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film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-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sakila)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5"/>
          <p:cNvSpPr txBox="1"/>
          <p:nvPr/>
        </p:nvSpPr>
        <p:spPr>
          <a:xfrm>
            <a:off x="16147555" y="1976367"/>
            <a:ext cx="1882139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Squad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|</a:t>
            </a:r>
            <a:r>
              <a:rPr lang="en-GB" sz="1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2098D3"/>
                </a:solidFill>
                <a:latin typeface="Verdana"/>
                <a:ea typeface="Verdana"/>
                <a:cs typeface="Verdana"/>
                <a:sym typeface="Verdana"/>
              </a:rPr>
              <a:t>SQL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4" name="Google Shape;364;p45"/>
          <p:cNvSpPr txBox="1"/>
          <p:nvPr>
            <p:ph type="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2550">
            <a:spAutoFit/>
          </a:bodyPr>
          <a:lstStyle/>
          <a:p>
            <a:pPr indent="0" lvl="0" marL="27940" rtl="0" algn="l">
              <a:lnSpc>
                <a:spcPct val="1194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LEFT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JOIN</a:t>
            </a:r>
            <a:endParaRPr/>
          </a:p>
        </p:txBody>
      </p:sp>
      <p:sp>
        <p:nvSpPr>
          <p:cNvPr id="365" name="Google Shape;365;p45"/>
          <p:cNvSpPr txBox="1"/>
          <p:nvPr/>
        </p:nvSpPr>
        <p:spPr>
          <a:xfrm>
            <a:off x="941324" y="3392688"/>
            <a:ext cx="15909290" cy="841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10159" lvl="0" marL="12700" marR="5080" rtl="0" algn="l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RETURNS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EVERY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ROW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FROM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LEFT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TABLE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PLUS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ROWS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THAT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MATCH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VALUES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IN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JOINED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COLUMN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FROM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RIGHT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TABLE.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66" name="Google Shape;366;p45"/>
          <p:cNvSpPr txBox="1"/>
          <p:nvPr/>
        </p:nvSpPr>
        <p:spPr>
          <a:xfrm>
            <a:off x="973322" y="5448372"/>
            <a:ext cx="807402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4883150" rtl="0" algn="l">
              <a:lnSpc>
                <a:spcPct val="12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Table_A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LEFT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JOIN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Table_B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Table_A.Key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Table_B.Key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"/>
              </a:spcBef>
              <a:spcAft>
                <a:spcPts val="0"/>
              </a:spcAft>
              <a:buNone/>
            </a:pPr>
            <a:r>
              <a:t/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there</a:t>
            </a:r>
            <a:r>
              <a:rPr i="1"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’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match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value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left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query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result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contains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NULL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values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right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columns.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7" name="Google Shape;367;p45"/>
          <p:cNvSpPr/>
          <p:nvPr/>
        </p:nvSpPr>
        <p:spPr>
          <a:xfrm>
            <a:off x="9061703" y="5994401"/>
            <a:ext cx="4371746" cy="293319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"/>
          <p:cNvSpPr txBox="1"/>
          <p:nvPr>
            <p:ph type="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4000">
            <a:spAutoFit/>
          </a:bodyPr>
          <a:lstStyle/>
          <a:p>
            <a:pPr indent="0" lvl="0" marL="27940" rtl="0" algn="l">
              <a:lnSpc>
                <a:spcPct val="1194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RIGHT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JOIN</a:t>
            </a:r>
            <a:endParaRPr/>
          </a:p>
        </p:txBody>
      </p:sp>
      <p:sp>
        <p:nvSpPr>
          <p:cNvPr id="373" name="Google Shape;373;p46"/>
          <p:cNvSpPr txBox="1"/>
          <p:nvPr/>
        </p:nvSpPr>
        <p:spPr>
          <a:xfrm>
            <a:off x="951992" y="3484128"/>
            <a:ext cx="14829155" cy="5291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RETURNS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EVERY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ROW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FROM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RIGHT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TABLE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PLUS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ROWS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THAT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MATCH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KEY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VALUES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IN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KEY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COLUMN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FROM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LEFT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TABLE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8160384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columns.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36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3655" marR="11385550" rtl="0" algn="l">
              <a:lnSpc>
                <a:spcPct val="14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Table_A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RIGHT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JOIN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Table_B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3655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Table_A.Key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Table_B.Key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"/>
              </a:spcBef>
              <a:spcAft>
                <a:spcPts val="0"/>
              </a:spcAft>
              <a:buNone/>
            </a:pPr>
            <a:r>
              <a:t/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3655" marR="6898005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there</a:t>
            </a:r>
            <a:r>
              <a:rPr i="1"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’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match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value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right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query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result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contains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NULL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values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left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4" name="Google Shape;374;p46"/>
          <p:cNvSpPr/>
          <p:nvPr/>
        </p:nvSpPr>
        <p:spPr>
          <a:xfrm>
            <a:off x="9111995" y="5206221"/>
            <a:ext cx="4800234" cy="319089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"/>
          <p:cNvSpPr txBox="1"/>
          <p:nvPr/>
        </p:nvSpPr>
        <p:spPr>
          <a:xfrm>
            <a:off x="961136" y="2650890"/>
            <a:ext cx="541782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94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FULL</a:t>
            </a:r>
            <a:r>
              <a:rPr lang="en-GB" sz="4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OUTER</a:t>
            </a:r>
            <a:r>
              <a:rPr lang="en-GB" sz="4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JOIN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80" name="Google Shape;380;p47"/>
          <p:cNvSpPr txBox="1"/>
          <p:nvPr/>
        </p:nvSpPr>
        <p:spPr>
          <a:xfrm>
            <a:off x="941324" y="3711204"/>
            <a:ext cx="15679419" cy="5027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10159" lvl="0" marL="12700" marR="5080" rtl="0" algn="l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RETURNS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EVERY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ROW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FROM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BOTH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TABLES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AND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MATCHES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ROWS;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THEN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JOINS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ROWS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WHERE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VALUES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IN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JOINED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COLUMNS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MATCH.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8195944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empty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row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other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644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10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 sz="2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64490" marR="12606020" rtl="0" algn="l">
              <a:lnSpc>
                <a:spcPct val="147619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10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Table_A</a:t>
            </a:r>
            <a:r>
              <a:rPr lang="en-GB" sz="210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OUTER</a:t>
            </a:r>
            <a:r>
              <a:rPr lang="en-GB" sz="210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JOIN</a:t>
            </a:r>
            <a:r>
              <a:rPr lang="en-GB" sz="210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Table_B</a:t>
            </a:r>
            <a:endParaRPr sz="2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64490" marR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ON</a:t>
            </a:r>
            <a:r>
              <a:rPr lang="en-GB" sz="210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Table_A.Key</a:t>
            </a:r>
            <a:r>
              <a:rPr lang="en-GB" sz="210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GB" sz="210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Table_B.Key</a:t>
            </a:r>
            <a:endParaRPr sz="2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64490" marR="7833994" rtl="0" algn="l">
              <a:lnSpc>
                <a:spcPct val="12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there</a:t>
            </a:r>
            <a:r>
              <a:rPr i="1"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’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match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value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either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left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right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query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result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contains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1" name="Google Shape;381;p47"/>
          <p:cNvSpPr/>
          <p:nvPr/>
        </p:nvSpPr>
        <p:spPr>
          <a:xfrm>
            <a:off x="9136379" y="5151613"/>
            <a:ext cx="5342869" cy="347664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8"/>
          <p:cNvSpPr txBox="1"/>
          <p:nvPr/>
        </p:nvSpPr>
        <p:spPr>
          <a:xfrm>
            <a:off x="3628392" y="4575607"/>
            <a:ext cx="11359515" cy="347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2539" lvl="0" marL="12065" marR="5080" rtl="0" algn="ctr">
              <a:lnSpc>
                <a:spcPct val="84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DATA</a:t>
            </a:r>
            <a:r>
              <a:rPr lang="en-GB" sz="9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9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SCIENCE</a:t>
            </a:r>
            <a:r>
              <a:rPr lang="en-GB" sz="9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9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AND</a:t>
            </a:r>
            <a:r>
              <a:rPr lang="en-GB" sz="9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9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MACHINE</a:t>
            </a:r>
            <a:r>
              <a:rPr lang="en-GB" sz="9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9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LEARNING</a:t>
            </a:r>
            <a:r>
              <a:rPr lang="en-GB" sz="9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9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BOOTCAMP</a:t>
            </a:r>
            <a:endParaRPr sz="9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87" name="Google Shape;387;p48"/>
          <p:cNvSpPr txBox="1"/>
          <p:nvPr/>
        </p:nvSpPr>
        <p:spPr>
          <a:xfrm>
            <a:off x="7829870" y="9182100"/>
            <a:ext cx="2628259" cy="530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5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SQL – Day 2</a:t>
            </a:r>
            <a:endParaRPr sz="345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388" name="Google Shape;388;p48"/>
          <p:cNvSpPr/>
          <p:nvPr/>
        </p:nvSpPr>
        <p:spPr>
          <a:xfrm>
            <a:off x="7353940" y="1000140"/>
            <a:ext cx="3581400" cy="35810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9"/>
          <p:cNvSpPr txBox="1"/>
          <p:nvPr>
            <p:ph type="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01500">
            <a:spAutoFit/>
          </a:bodyPr>
          <a:lstStyle/>
          <a:p>
            <a:pPr indent="0" lvl="0" marL="171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SUBQUERIES</a:t>
            </a:r>
            <a:endParaRPr/>
          </a:p>
        </p:txBody>
      </p:sp>
      <p:sp>
        <p:nvSpPr>
          <p:cNvPr id="394" name="Google Shape;394;p49"/>
          <p:cNvSpPr txBox="1"/>
          <p:nvPr/>
        </p:nvSpPr>
        <p:spPr>
          <a:xfrm>
            <a:off x="945896" y="4155043"/>
            <a:ext cx="15556230" cy="2927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implies,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subqueries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queries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nested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inside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another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query.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"/>
              </a:spcBef>
              <a:spcAft>
                <a:spcPts val="0"/>
              </a:spcAft>
              <a:buNone/>
            </a:pPr>
            <a:r>
              <a:t/>
            </a:r>
            <a:endParaRPr sz="3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" lvl="0" marL="24765" marR="480059" rtl="0" algn="l">
              <a:lnSpc>
                <a:spcPct val="12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You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can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use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subquery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place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main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query,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since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statements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themselves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“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tables</a:t>
            </a:r>
            <a:r>
              <a:rPr i="1"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”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often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solution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used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quick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analysis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since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subqueries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can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easily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become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very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complex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0"/>
          <p:cNvSpPr txBox="1"/>
          <p:nvPr/>
        </p:nvSpPr>
        <p:spPr>
          <a:xfrm>
            <a:off x="945896" y="1375936"/>
            <a:ext cx="13830300" cy="212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71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SUBQUERIES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47800"/>
              </a:lnSpc>
              <a:spcBef>
                <a:spcPts val="1085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Example: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find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names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of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actors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which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starred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in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movies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with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lengths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higher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or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equal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to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average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length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of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all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movies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1"/>
          <p:cNvSpPr txBox="1"/>
          <p:nvPr/>
        </p:nvSpPr>
        <p:spPr>
          <a:xfrm>
            <a:off x="945896" y="1089423"/>
            <a:ext cx="1383030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71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SUBQUERIES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48100"/>
              </a:lnSpc>
              <a:spcBef>
                <a:spcPts val="1075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Example: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find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names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of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actors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which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starred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in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movies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with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lengths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higher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or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equal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to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 u="sng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average length of all the movies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05" name="Google Shape;405;p51"/>
          <p:cNvSpPr txBox="1"/>
          <p:nvPr/>
        </p:nvSpPr>
        <p:spPr>
          <a:xfrm>
            <a:off x="974852" y="5391984"/>
            <a:ext cx="723392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AVG(length)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average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films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2"/>
          <p:cNvSpPr txBox="1"/>
          <p:nvPr/>
        </p:nvSpPr>
        <p:spPr>
          <a:xfrm>
            <a:off x="945896" y="1089423"/>
            <a:ext cx="1383284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71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SUBQUERIES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48100"/>
              </a:lnSpc>
              <a:spcBef>
                <a:spcPts val="1075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Example: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find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names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of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actors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which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starred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in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 u="sng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movies with lengths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 u="sng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higher or equal to the average length of all the movies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11" name="Google Shape;411;p52"/>
          <p:cNvSpPr txBox="1"/>
          <p:nvPr/>
        </p:nvSpPr>
        <p:spPr>
          <a:xfrm>
            <a:off x="974852" y="4844867"/>
            <a:ext cx="10039985" cy="124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sakila.film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WHERE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length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&gt;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(SELECT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AVG(length)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average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film)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3"/>
          <p:cNvSpPr txBox="1"/>
          <p:nvPr>
            <p:ph type="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71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SUBQUERIES</a:t>
            </a:r>
            <a:endParaRPr/>
          </a:p>
          <a:p>
            <a:pPr indent="0" lvl="0" marL="12700" marR="5080" rtl="0" algn="l">
              <a:lnSpc>
                <a:spcPct val="148100"/>
              </a:lnSpc>
              <a:spcBef>
                <a:spcPts val="1075"/>
              </a:spcBef>
              <a:spcAft>
                <a:spcPts val="0"/>
              </a:spcAft>
              <a:buNone/>
            </a:pPr>
            <a:r>
              <a:rPr lang="en-GB" sz="3000"/>
              <a:t>Example: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/>
              <a:t>find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/>
              <a:t>the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/>
              <a:t>names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/>
              <a:t>of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/>
              <a:t>the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/>
              <a:t>actors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/>
              <a:t>which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/>
              <a:t>starred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/>
              <a:t>in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 u="sng"/>
              <a:t>movies with lengths</a:t>
            </a: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 u="sng"/>
              <a:t>higher or equal to the average length of all the movies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53"/>
          <p:cNvSpPr txBox="1"/>
          <p:nvPr/>
        </p:nvSpPr>
        <p:spPr>
          <a:xfrm>
            <a:off x="974852" y="4844867"/>
            <a:ext cx="10039985" cy="124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7342505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film_id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sakila.film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WHERE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length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&gt;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(SELECT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AVG(length)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average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film)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4"/>
          <p:cNvSpPr txBox="1"/>
          <p:nvPr/>
        </p:nvSpPr>
        <p:spPr>
          <a:xfrm>
            <a:off x="945896" y="1104900"/>
            <a:ext cx="13831569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71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SUBQUERIES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48100"/>
              </a:lnSpc>
              <a:spcBef>
                <a:spcPts val="1075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Example: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find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names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of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the</a:t>
            </a:r>
            <a:r>
              <a:rPr lang="en-GB" sz="3000" u="sng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 actors which starred in movies with lengths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 u="sng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higher or equal to the average length of all the movies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23" name="Google Shape;423;p54"/>
          <p:cNvSpPr txBox="1"/>
          <p:nvPr>
            <p:ph idx="1" type="body"/>
          </p:nvPr>
        </p:nvSpPr>
        <p:spPr>
          <a:xfrm>
            <a:off x="457201" y="3688344"/>
            <a:ext cx="17178782" cy="4864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8700">
            <a:spAutoFit/>
          </a:bodyPr>
          <a:lstStyle/>
          <a:p>
            <a:pPr indent="0" lvl="0" marL="335280" marR="12338685" rtl="0" algn="l">
              <a:lnSpc>
                <a:spcPct val="10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DISTINCT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actor_id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sakila.film_actor</a:t>
            </a:r>
            <a:endParaRPr/>
          </a:p>
          <a:p>
            <a:pPr indent="0" lvl="0" marL="335280" marR="508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INNER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JOIN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35280" marR="508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35280" marR="508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GB"/>
              <a:t>(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film_id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35280" marR="508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sakila.film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35280" marR="508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WHERE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length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&gt;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(SELECT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AVG</a:t>
            </a:r>
            <a:r>
              <a:rPr lang="en-GB"/>
              <a:t>(length)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average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film))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selected_films_id</a:t>
            </a:r>
            <a:endParaRPr/>
          </a:p>
          <a:p>
            <a:pPr indent="0" lvl="0" marL="335280" marR="508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3528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ON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sakila.film_actor.film_id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=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selected_films_id.film_id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5"/>
          <p:cNvSpPr txBox="1"/>
          <p:nvPr/>
        </p:nvSpPr>
        <p:spPr>
          <a:xfrm>
            <a:off x="945896" y="1508524"/>
            <a:ext cx="1383284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71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SUBQUERIES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5080" rtl="0" algn="l">
              <a:lnSpc>
                <a:spcPct val="148100"/>
              </a:lnSpc>
              <a:spcBef>
                <a:spcPts val="1075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Example: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 u="sng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find the names of the actors which starred in movies with lengths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 u="sng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higher or equal to the average length of all the movies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29" name="Google Shape;429;p55"/>
          <p:cNvSpPr txBox="1"/>
          <p:nvPr>
            <p:ph idx="1" type="body"/>
          </p:nvPr>
        </p:nvSpPr>
        <p:spPr>
          <a:xfrm>
            <a:off x="652017" y="3688344"/>
            <a:ext cx="16983965" cy="6225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8700">
            <a:spAutoFit/>
          </a:bodyPr>
          <a:lstStyle/>
          <a:p>
            <a:pPr indent="0" lvl="0" marL="335280" marR="11659235" rtl="0" algn="l">
              <a:lnSpc>
                <a:spcPct val="10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first_name,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last_name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sakila.actor</a:t>
            </a:r>
            <a:endParaRPr/>
          </a:p>
          <a:p>
            <a:pPr indent="0" lvl="0" marL="33528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INNER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JOIN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(</a:t>
            </a:r>
            <a:endParaRPr/>
          </a:p>
          <a:p>
            <a:pPr indent="0" lvl="0" marL="335280" marR="12338685" rtl="0" algn="l">
              <a:lnSpc>
                <a:spcPct val="127407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DISTINCT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actor_id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sakila.film_actor</a:t>
            </a:r>
            <a:endParaRPr/>
          </a:p>
          <a:p>
            <a:pPr indent="0" lvl="0" marL="335280" rtl="0" algn="l">
              <a:lnSpc>
                <a:spcPct val="122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INNER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JOIN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(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film_id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sakila.film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WHERE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length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&gt;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(SELECT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AVG</a:t>
            </a:r>
            <a:r>
              <a:rPr lang="en-GB"/>
              <a:t>(length)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average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FROM</a:t>
            </a:r>
            <a:endParaRPr/>
          </a:p>
          <a:p>
            <a:pPr indent="0" lvl="0" marL="33528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GB"/>
              <a:t>film))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selected_films_id</a:t>
            </a:r>
            <a:endParaRPr/>
          </a:p>
          <a:p>
            <a:pPr indent="0" lvl="0" marL="335280" marR="4413885" rtl="0" algn="l">
              <a:lnSpc>
                <a:spcPct val="127407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ON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sakila.film_actor.film_id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=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selected_films_id.film_id)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AS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selected_actors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ON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sakila.actor.actor_id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=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selected_actors.actor_id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6"/>
          <p:cNvSpPr txBox="1"/>
          <p:nvPr>
            <p:ph type="title"/>
          </p:nvPr>
        </p:nvSpPr>
        <p:spPr>
          <a:xfrm>
            <a:off x="945896" y="1089423"/>
            <a:ext cx="16396206" cy="212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9200">
            <a:spAutoFit/>
          </a:bodyPr>
          <a:lstStyle/>
          <a:p>
            <a:pPr indent="0" lvl="0" marL="12700" rtl="0" algn="l">
              <a:lnSpc>
                <a:spcPct val="1194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TEMPORARY</a:t>
            </a:r>
            <a:endParaRPr/>
          </a:p>
        </p:txBody>
      </p:sp>
      <p:sp>
        <p:nvSpPr>
          <p:cNvPr id="435" name="Google Shape;435;p56"/>
          <p:cNvSpPr txBox="1"/>
          <p:nvPr/>
        </p:nvSpPr>
        <p:spPr>
          <a:xfrm>
            <a:off x="945896" y="2470676"/>
            <a:ext cx="14448155" cy="46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9352280" rtl="0" algn="l">
              <a:lnSpc>
                <a:spcPct val="148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TABLES</a:t>
            </a:r>
            <a:r>
              <a:rPr lang="en-GB" sz="48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COMPLEXITY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BREEDS</a:t>
            </a:r>
            <a:r>
              <a:rPr lang="en-GB" sz="3000">
                <a:solidFill>
                  <a:srgbClr val="2098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0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ERROR</a:t>
            </a:r>
            <a:endParaRPr sz="30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43180" marR="5080" rtl="0" algn="l">
              <a:lnSpc>
                <a:spcPct val="2444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Subqueries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can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easily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become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very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complex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therefore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hard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debug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get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wrong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Temporary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Tables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can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be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reused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stored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whole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session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3180" marR="0" rtl="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None/>
            </a:pP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They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are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destroyed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after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session,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no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actual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database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space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lang="en-GB" sz="2750">
                <a:solidFill>
                  <a:srgbClr val="0843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750">
                <a:solidFill>
                  <a:srgbClr val="084365"/>
                </a:solidFill>
                <a:latin typeface="Verdana"/>
                <a:ea typeface="Verdana"/>
                <a:cs typeface="Verdana"/>
                <a:sym typeface="Verdana"/>
              </a:rPr>
              <a:t>used</a:t>
            </a:r>
            <a:endParaRPr sz="2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7"/>
          <p:cNvSpPr txBox="1"/>
          <p:nvPr>
            <p:ph type="title"/>
          </p:nvPr>
        </p:nvSpPr>
        <p:spPr>
          <a:xfrm>
            <a:off x="945896" y="1089423"/>
            <a:ext cx="16396206" cy="1254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18650">
            <a:spAutoFit/>
          </a:bodyPr>
          <a:lstStyle/>
          <a:p>
            <a:pPr indent="0" lvl="0" marL="12700" rtl="0" algn="l">
              <a:lnSpc>
                <a:spcPct val="1194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VIEWS</a:t>
            </a:r>
            <a:endParaRPr/>
          </a:p>
        </p:txBody>
      </p:sp>
      <p:sp>
        <p:nvSpPr>
          <p:cNvPr id="441" name="Google Shape;441;p57"/>
          <p:cNvSpPr txBox="1"/>
          <p:nvPr/>
        </p:nvSpPr>
        <p:spPr>
          <a:xfrm>
            <a:off x="945896" y="2690514"/>
            <a:ext cx="11855704" cy="7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94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What if we would like to save a query?</a:t>
            </a:r>
            <a:endParaRPr sz="4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42" name="Google Shape;442;p57"/>
          <p:cNvSpPr txBox="1"/>
          <p:nvPr/>
        </p:nvSpPr>
        <p:spPr>
          <a:xfrm>
            <a:off x="935010" y="4076700"/>
            <a:ext cx="11333190" cy="6124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DROP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EXISTS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actor_categories;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0" lang="en-GB" sz="1600">
                <a:solidFill>
                  <a:srgbClr val="008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-- Create a new view</a:t>
            </a:r>
            <a:endParaRPr b="0" sz="16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CREATE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GB" sz="1600">
                <a:solidFill>
                  <a:srgbClr val="795E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actor_categories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AS</a:t>
            </a:r>
            <a:endParaRPr b="0" sz="16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actor_id,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first_name,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last_name,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795E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(film_id) </a:t>
            </a: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AS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total_films,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CASE</a:t>
            </a:r>
            <a:endParaRPr b="0" sz="16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GB" sz="1600">
                <a:solidFill>
                  <a:srgbClr val="795E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(film_id) &gt;= </a:t>
            </a:r>
            <a:r>
              <a:rPr b="0" lang="en-GB" sz="1600">
                <a:solidFill>
                  <a:srgbClr val="09865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30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THEN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GB" sz="1600">
                <a:solidFill>
                  <a:srgbClr val="A315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'Star Actor'</a:t>
            </a:r>
            <a:endParaRPr b="0" sz="16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GB" sz="1600">
                <a:solidFill>
                  <a:srgbClr val="795E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(film_id) &gt;= </a:t>
            </a:r>
            <a:r>
              <a:rPr b="0" lang="en-GB" sz="1600">
                <a:solidFill>
                  <a:srgbClr val="09865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15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THEN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GB" sz="1600">
                <a:solidFill>
                  <a:srgbClr val="A315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'Frequent Actor'</a:t>
            </a:r>
            <a:endParaRPr b="0" sz="16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GB" sz="1600">
                <a:solidFill>
                  <a:srgbClr val="A315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'Occasional Actor'</a:t>
            </a:r>
            <a:endParaRPr b="0" sz="16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AS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actor_category</a:t>
            </a:r>
            <a:endParaRPr b="0" sz="16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JOIN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film_actor </a:t>
            </a: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ON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actor.actor_id = film_actor.actor_id</a:t>
            </a:r>
            <a:endParaRPr b="0" sz="16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GROUP BY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actor_id</a:t>
            </a:r>
            <a:endParaRPr b="0" sz="16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ORDER BY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total_films </a:t>
            </a:r>
            <a:r>
              <a:rPr b="0" lang="en-GB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DESC</a:t>
            </a:r>
            <a: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endParaRPr b="0" sz="16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57"/>
          <p:cNvSpPr txBox="1"/>
          <p:nvPr/>
        </p:nvSpPr>
        <p:spPr>
          <a:xfrm>
            <a:off x="11963400" y="4055533"/>
            <a:ext cx="57912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lang="en-GB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GB" sz="1800">
                <a:solidFill>
                  <a:srgbClr val="A315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`actor_categories`</a:t>
            </a:r>
            <a:r>
              <a:rPr b="0" lang="en-GB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lang="en-GB" sz="1800">
                <a:solidFill>
                  <a:srgbClr val="A315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`actor_id`</a:t>
            </a:r>
            <a:r>
              <a:rPr b="0" lang="en-GB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A315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`actor_categories`</a:t>
            </a:r>
            <a:r>
              <a:rPr b="0" lang="en-GB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lang="en-GB" sz="1800">
                <a:solidFill>
                  <a:srgbClr val="A315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`first_name`</a:t>
            </a:r>
            <a:r>
              <a:rPr b="0" lang="en-GB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A315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`actor_categories`</a:t>
            </a:r>
            <a:r>
              <a:rPr b="0" lang="en-GB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lang="en-GB" sz="1800">
                <a:solidFill>
                  <a:srgbClr val="A315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`last_name`</a:t>
            </a:r>
            <a:r>
              <a:rPr b="0" lang="en-GB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A315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`actor_categories`</a:t>
            </a:r>
            <a:r>
              <a:rPr b="0" lang="en-GB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lang="en-GB" sz="1800">
                <a:solidFill>
                  <a:srgbClr val="A315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`total_films`</a:t>
            </a:r>
            <a:r>
              <a:rPr b="0" lang="en-GB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A315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`actor_categories`</a:t>
            </a:r>
            <a:r>
              <a:rPr b="0" lang="en-GB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lang="en-GB" sz="1800">
                <a:solidFill>
                  <a:srgbClr val="A315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`actor_category`</a:t>
            </a:r>
            <a:endParaRPr b="0" sz="18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lang="en-GB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GB" sz="1800">
                <a:solidFill>
                  <a:srgbClr val="A315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`sakila`</a:t>
            </a:r>
            <a:r>
              <a:rPr b="0" lang="en-GB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lang="en-GB" sz="1800">
                <a:solidFill>
                  <a:srgbClr val="A315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`actor_categories`</a:t>
            </a:r>
            <a:r>
              <a:rPr b="0" lang="en-GB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8"/>
          <p:cNvSpPr txBox="1"/>
          <p:nvPr>
            <p:ph type="title"/>
          </p:nvPr>
        </p:nvSpPr>
        <p:spPr>
          <a:xfrm>
            <a:off x="6019800" y="3777068"/>
            <a:ext cx="6248400" cy="2732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18650">
            <a:spAutoFit/>
          </a:bodyPr>
          <a:lstStyle/>
          <a:p>
            <a:pPr indent="0" lvl="0" marL="12700" rtl="0" algn="ctr">
              <a:lnSpc>
                <a:spcPct val="796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/>
              <a:t>ADVANCED </a:t>
            </a:r>
            <a:br>
              <a:rPr lang="en-GB" sz="7200"/>
            </a:br>
            <a:br>
              <a:rPr lang="en-GB" sz="7200"/>
            </a:br>
            <a:r>
              <a:rPr lang="en-GB" sz="7200"/>
              <a:t>TOPICS</a:t>
            </a:r>
            <a:endParaRPr sz="72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9"/>
          <p:cNvSpPr txBox="1"/>
          <p:nvPr>
            <p:ph type="title"/>
          </p:nvPr>
        </p:nvSpPr>
        <p:spPr>
          <a:xfrm>
            <a:off x="945896" y="1089423"/>
            <a:ext cx="16396206" cy="2716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18650">
            <a:spAutoFit/>
          </a:bodyPr>
          <a:lstStyle/>
          <a:p>
            <a:pPr indent="0" lvl="0" marL="12700" rtl="0" algn="l">
              <a:lnSpc>
                <a:spcPct val="1194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ACTIONS QUERIES</a:t>
            </a:r>
            <a:br>
              <a:rPr lang="en-GB"/>
            </a:br>
            <a:r>
              <a:rPr lang="en-GB" sz="28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Action queries are queries that alter the database</a:t>
            </a:r>
            <a:br>
              <a:rPr lang="en-GB" sz="2800">
                <a:latin typeface="Century"/>
                <a:ea typeface="Century"/>
                <a:cs typeface="Century"/>
                <a:sym typeface="Century"/>
              </a:rPr>
            </a:br>
            <a:endParaRPr/>
          </a:p>
        </p:txBody>
      </p:sp>
      <p:sp>
        <p:nvSpPr>
          <p:cNvPr id="454" name="Google Shape;454;p59"/>
          <p:cNvSpPr txBox="1"/>
          <p:nvPr/>
        </p:nvSpPr>
        <p:spPr>
          <a:xfrm>
            <a:off x="2590800" y="4697351"/>
            <a:ext cx="5073904" cy="1367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792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CREATE DATABASE</a:t>
            </a:r>
            <a:endParaRPr/>
          </a:p>
          <a:p>
            <a:pPr indent="0" lvl="0" marL="12700" marR="0" rtl="0" algn="l">
              <a:lnSpc>
                <a:spcPct val="1792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CREATE TABLE</a:t>
            </a:r>
            <a:endParaRPr sz="32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55" name="Google Shape;455;p59"/>
          <p:cNvSpPr txBox="1"/>
          <p:nvPr/>
        </p:nvSpPr>
        <p:spPr>
          <a:xfrm>
            <a:off x="10677011" y="4674241"/>
            <a:ext cx="5073904" cy="3560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792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ALTER TABLE</a:t>
            </a:r>
            <a:endParaRPr/>
          </a:p>
          <a:p>
            <a:pPr indent="0" lvl="0" marL="12700" marR="0" rtl="0" algn="l">
              <a:lnSpc>
                <a:spcPct val="1792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098D3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792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098D3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792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INSERT INTO</a:t>
            </a:r>
            <a:endParaRPr/>
          </a:p>
          <a:p>
            <a:pPr indent="0" lvl="0" marL="12700" marR="0" rtl="0" algn="l">
              <a:lnSpc>
                <a:spcPct val="1792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UPDATE</a:t>
            </a:r>
            <a:endParaRPr sz="32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456" name="Google Shape;456;p59"/>
          <p:cNvSpPr txBox="1"/>
          <p:nvPr/>
        </p:nvSpPr>
        <p:spPr>
          <a:xfrm>
            <a:off x="2514600" y="6594352"/>
            <a:ext cx="5073904" cy="1367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792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DROP TABLE</a:t>
            </a:r>
            <a:endParaRPr sz="32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2700" marR="0" rtl="0" algn="l">
              <a:lnSpc>
                <a:spcPct val="1792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2098D3"/>
                </a:solidFill>
                <a:latin typeface="Century"/>
                <a:ea typeface="Century"/>
                <a:cs typeface="Century"/>
                <a:sym typeface="Century"/>
              </a:rPr>
              <a:t>DROP DATABASE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rissa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098D3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