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6858000" cy="9144000"/>
  <p:embeddedFontLst>
    <p:embeddedFont>
      <p:font typeface="Roboto"/>
      <p:regular r:id="rId22"/>
      <p:bold r:id="rId23"/>
      <p:italic r:id="rId24"/>
      <p:boldItalic r:id="rId25"/>
    </p:embeddedFont>
    <p:embeddedFont>
      <p:font typeface="Nuni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jdWiUU5GFCTrRm1cjfhqYf6XbL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regular.fntdata"/><Relationship Id="rId25" Type="http://schemas.openxmlformats.org/officeDocument/2006/relationships/font" Target="fonts/Roboto-boldItalic.fntdata"/><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6d443c648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6d443c64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6d443c648_0_9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66d443c648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66d443c648_0_8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66d443c648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66d443c648_0_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366d443c64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66d443c648_0_2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66d443c648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6d443c648_0_10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366d443c648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6d443c648_0_11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66d443c648_0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6d443c648_0_13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66d443c648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66d443c648_0_20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66d443c648_0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66d443c648_0_14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366d443c648_0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66d443c648_0_15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66d443c648_0_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66d443c648_0_16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366d443c648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66d443c648_0_18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66d443c648_0_1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66d443c648_0_17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366d443c648_0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66d443c648_0_21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66d443c648_0_2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66d443c648_0_22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66d443c648_0_2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1792288" y="612775"/>
            <a:ext cx="5486400" cy="4114800"/>
          </a:xfrm>
          <a:prstGeom prst="rect">
            <a:avLst/>
          </a:prstGeom>
          <a:noFill/>
          <a:ln>
            <a:noFill/>
          </a:ln>
        </p:spPr>
      </p:sp>
      <p:sp>
        <p:nvSpPr>
          <p:cNvPr id="64" name="Google Shape;64;p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g366d443c648_0_8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2" name="Google Shape;82;g366d443c648_0_8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g366d443c648_0_84"/>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g366d443c648_0_0"/>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100"/>
              <a:buFont typeface="Arial"/>
              <a:buNone/>
            </a:pPr>
            <a:r>
              <a:rPr b="1" lang="en-US" sz="4800">
                <a:solidFill>
                  <a:srgbClr val="2DC5FA"/>
                </a:solidFill>
                <a:latin typeface="Roboto"/>
                <a:ea typeface="Roboto"/>
                <a:cs typeface="Roboto"/>
                <a:sym typeface="Roboto"/>
              </a:rPr>
              <a:t>Introduction to Convolutional Neural Networks (CNNs)</a:t>
            </a:r>
            <a:endParaRPr b="1" i="0" sz="4800" u="none" cap="none" strike="noStrike">
              <a:solidFill>
                <a:srgbClr val="2DC5FA"/>
              </a:solidFill>
              <a:latin typeface="Roboto"/>
              <a:ea typeface="Roboto"/>
              <a:cs typeface="Roboto"/>
              <a:sym typeface="Roboto"/>
            </a:endParaRPr>
          </a:p>
          <a:p>
            <a:pPr indent="0" lvl="0" marL="457200" marR="0" rtl="0" algn="just">
              <a:lnSpc>
                <a:spcPct val="150000"/>
              </a:lnSpc>
              <a:spcBef>
                <a:spcPts val="0"/>
              </a:spcBef>
              <a:spcAft>
                <a:spcPts val="0"/>
              </a:spcAft>
              <a:buClr>
                <a:srgbClr val="000000"/>
              </a:buClr>
              <a:buSzPts val="1000"/>
              <a:buFont typeface="Arial"/>
              <a:buNone/>
            </a:pPr>
            <a:r>
              <a:t/>
            </a:r>
            <a:endParaRPr b="0" i="0" sz="4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t/>
            </a:r>
            <a:endParaRPr b="1" i="0" sz="4800" u="none" cap="none" strike="noStrike">
              <a:solidFill>
                <a:srgbClr val="2DC5FA"/>
              </a:solidFill>
              <a:latin typeface="Roboto"/>
              <a:ea typeface="Roboto"/>
              <a:cs typeface="Roboto"/>
              <a:sym typeface="Roboto"/>
            </a:endParaRPr>
          </a:p>
          <a:p>
            <a:pPr indent="0" lvl="0" marL="457200" marR="0" rtl="0" algn="just">
              <a:lnSpc>
                <a:spcPct val="150000"/>
              </a:lnSpc>
              <a:spcBef>
                <a:spcPts val="0"/>
              </a:spcBef>
              <a:spcAft>
                <a:spcPts val="0"/>
              </a:spcAft>
              <a:buClr>
                <a:srgbClr val="000000"/>
              </a:buClr>
              <a:buSzPts val="900"/>
              <a:buFont typeface="Arial"/>
              <a:buNone/>
            </a:pPr>
            <a:r>
              <a:t/>
            </a:r>
            <a:endParaRPr b="0" i="0" sz="4800" u="none" cap="none" strike="noStrike">
              <a:solidFill>
                <a:schemeClr val="dk1"/>
              </a:solidFill>
              <a:latin typeface="Roboto"/>
              <a:ea typeface="Roboto"/>
              <a:cs typeface="Roboto"/>
              <a:sym typeface="Roboto"/>
            </a:endParaRPr>
          </a:p>
        </p:txBody>
      </p:sp>
      <p:sp>
        <p:nvSpPr>
          <p:cNvPr id="89" name="Google Shape;89;g366d443c648_0_0"/>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90" name="Google Shape;90;g366d443c648_0_0"/>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g366d443c648_0_97"/>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457200" marR="0" rtl="0" algn="just">
              <a:lnSpc>
                <a:spcPct val="150000"/>
              </a:lnSpc>
              <a:spcBef>
                <a:spcPts val="0"/>
              </a:spcBef>
              <a:spcAft>
                <a:spcPts val="0"/>
              </a:spcAft>
              <a:buClr>
                <a:srgbClr val="000000"/>
              </a:buClr>
              <a:buSzPts val="900"/>
              <a:buFont typeface="Arial"/>
              <a:buNone/>
            </a:pPr>
            <a:r>
              <a:t/>
            </a:r>
            <a:endParaRPr b="0" i="0" sz="4800" u="none" cap="none" strike="noStrike">
              <a:solidFill>
                <a:schemeClr val="dk1"/>
              </a:solidFill>
              <a:latin typeface="Roboto"/>
              <a:ea typeface="Roboto"/>
              <a:cs typeface="Roboto"/>
              <a:sym typeface="Roboto"/>
            </a:endParaRPr>
          </a:p>
        </p:txBody>
      </p:sp>
      <p:sp>
        <p:nvSpPr>
          <p:cNvPr id="96" name="Google Shape;96;g366d443c648_0_97"/>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97" name="Google Shape;97;g366d443c648_0_97"/>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98" name="Google Shape;98;g366d443c648_0_9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lnSpc>
                <a:spcPct val="115000"/>
              </a:lnSpc>
              <a:spcBef>
                <a:spcPts val="1400"/>
              </a:spcBef>
              <a:spcAft>
                <a:spcPts val="400"/>
              </a:spcAft>
              <a:buNone/>
            </a:pPr>
            <a:r>
              <a:rPr b="1" lang="en-US" sz="3500">
                <a:latin typeface="Arial"/>
                <a:ea typeface="Arial"/>
                <a:cs typeface="Arial"/>
                <a:sym typeface="Arial"/>
              </a:rPr>
              <a:t>Why We Need CNNs</a:t>
            </a:r>
            <a:endParaRPr b="1" sz="3500">
              <a:latin typeface="Arial"/>
              <a:ea typeface="Arial"/>
              <a:cs typeface="Arial"/>
              <a:sym typeface="Arial"/>
            </a:endParaRPr>
          </a:p>
        </p:txBody>
      </p:sp>
      <p:sp>
        <p:nvSpPr>
          <p:cNvPr id="99" name="Google Shape;99;g366d443c648_0_97"/>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61950" lvl="0" marL="457200" rtl="0" algn="l">
              <a:lnSpc>
                <a:spcPct val="115000"/>
              </a:lnSpc>
              <a:spcBef>
                <a:spcPts val="1200"/>
              </a:spcBef>
              <a:spcAft>
                <a:spcPts val="0"/>
              </a:spcAft>
              <a:buSzPts val="2100"/>
              <a:buChar char="●"/>
            </a:pPr>
            <a:r>
              <a:rPr lang="en-US" sz="2100">
                <a:latin typeface="Arial"/>
                <a:ea typeface="Arial"/>
                <a:cs typeface="Arial"/>
                <a:sym typeface="Arial"/>
              </a:rPr>
              <a:t>To </a:t>
            </a:r>
            <a:r>
              <a:rPr b="1" lang="en-US" sz="2100">
                <a:latin typeface="Arial"/>
                <a:ea typeface="Arial"/>
                <a:cs typeface="Arial"/>
                <a:sym typeface="Arial"/>
              </a:rPr>
              <a:t>exploit spatial relationships</a:t>
            </a:r>
            <a:r>
              <a:rPr lang="en-US" sz="2100">
                <a:latin typeface="Arial"/>
                <a:ea typeface="Arial"/>
                <a:cs typeface="Arial"/>
                <a:sym typeface="Arial"/>
              </a:rPr>
              <a:t> in images for better feature extraction.</a:t>
            </a:r>
            <a:br>
              <a:rPr lang="en-US" sz="2100">
                <a:latin typeface="Arial"/>
                <a:ea typeface="Arial"/>
                <a:cs typeface="Arial"/>
                <a:sym typeface="Arial"/>
              </a:rPr>
            </a:b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To </a:t>
            </a:r>
            <a:r>
              <a:rPr b="1" lang="en-US" sz="2100">
                <a:latin typeface="Arial"/>
                <a:ea typeface="Arial"/>
                <a:cs typeface="Arial"/>
                <a:sym typeface="Arial"/>
              </a:rPr>
              <a:t>reduce computational complexity</a:t>
            </a:r>
            <a:r>
              <a:rPr lang="en-US" sz="2100">
                <a:latin typeface="Arial"/>
                <a:ea typeface="Arial"/>
                <a:cs typeface="Arial"/>
                <a:sym typeface="Arial"/>
              </a:rPr>
              <a:t> and model size.</a:t>
            </a:r>
            <a:br>
              <a:rPr lang="en-US" sz="2100">
                <a:latin typeface="Arial"/>
                <a:ea typeface="Arial"/>
                <a:cs typeface="Arial"/>
                <a:sym typeface="Arial"/>
              </a:rPr>
            </a:b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To </a:t>
            </a:r>
            <a:r>
              <a:rPr b="1" lang="en-US" sz="2100">
                <a:latin typeface="Arial"/>
                <a:ea typeface="Arial"/>
                <a:cs typeface="Arial"/>
                <a:sym typeface="Arial"/>
              </a:rPr>
              <a:t>automatically learn hierarchical features</a:t>
            </a:r>
            <a:r>
              <a:rPr lang="en-US" sz="2100">
                <a:latin typeface="Arial"/>
                <a:ea typeface="Arial"/>
                <a:cs typeface="Arial"/>
                <a:sym typeface="Arial"/>
              </a:rPr>
              <a:t> from low-level edges to high-level shapes.</a:t>
            </a:r>
            <a:br>
              <a:rPr lang="en-US" sz="2100">
                <a:latin typeface="Arial"/>
                <a:ea typeface="Arial"/>
                <a:cs typeface="Arial"/>
                <a:sym typeface="Arial"/>
              </a:rPr>
            </a:b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To achieve </a:t>
            </a:r>
            <a:r>
              <a:rPr b="1" lang="en-US" sz="2100">
                <a:latin typeface="Arial"/>
                <a:ea typeface="Arial"/>
                <a:cs typeface="Arial"/>
                <a:sym typeface="Arial"/>
              </a:rPr>
              <a:t>high accuracy</a:t>
            </a:r>
            <a:r>
              <a:rPr lang="en-US" sz="2100">
                <a:latin typeface="Arial"/>
                <a:ea typeface="Arial"/>
                <a:cs typeface="Arial"/>
                <a:sym typeface="Arial"/>
              </a:rPr>
              <a:t> and </a:t>
            </a:r>
            <a:r>
              <a:rPr b="1" lang="en-US" sz="2100">
                <a:latin typeface="Arial"/>
                <a:ea typeface="Arial"/>
                <a:cs typeface="Arial"/>
                <a:sym typeface="Arial"/>
              </a:rPr>
              <a:t>efficient training</a:t>
            </a:r>
            <a:r>
              <a:rPr lang="en-US" sz="2100">
                <a:latin typeface="Arial"/>
                <a:ea typeface="Arial"/>
                <a:cs typeface="Arial"/>
                <a:sym typeface="Arial"/>
              </a:rPr>
              <a:t> in image-related tasks.</a:t>
            </a:r>
            <a:endParaRPr sz="2100">
              <a:latin typeface="Arial"/>
              <a:ea typeface="Arial"/>
              <a:cs typeface="Arial"/>
              <a:sym typeface="Arial"/>
            </a:endParaRPr>
          </a:p>
          <a:p>
            <a:pPr indent="0" lvl="0" marL="0" rtl="0" algn="l">
              <a:spcBef>
                <a:spcPts val="1200"/>
              </a:spcBef>
              <a:spcAft>
                <a:spcPts val="0"/>
              </a:spcAft>
              <a:buNone/>
            </a:pPr>
            <a:r>
              <a:t/>
            </a:r>
            <a:endParaRPr sz="4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g366d443c648_0_88"/>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100"/>
              <a:buFont typeface="Arial"/>
              <a:buNone/>
            </a:pPr>
            <a:r>
              <a:rPr b="1" i="0" lang="en-US" sz="1800" u="none" cap="none" strike="noStrike">
                <a:solidFill>
                  <a:srgbClr val="2DC5FA"/>
                </a:solidFill>
                <a:latin typeface="Roboto"/>
                <a:ea typeface="Roboto"/>
                <a:cs typeface="Roboto"/>
                <a:sym typeface="Roboto"/>
              </a:rPr>
              <a:t>Image as a structure: Greyscale</a:t>
            </a:r>
            <a:endParaRPr b="1" i="0" sz="1800" u="none" cap="none" strike="noStrike">
              <a:solidFill>
                <a:srgbClr val="2DC5FA"/>
              </a:solidFill>
              <a:latin typeface="Roboto"/>
              <a:ea typeface="Roboto"/>
              <a:cs typeface="Roboto"/>
              <a:sym typeface="Roboto"/>
            </a:endParaRPr>
          </a:p>
          <a:p>
            <a:pPr indent="0" lvl="0" marL="457200" marR="0" rtl="0" algn="just">
              <a:lnSpc>
                <a:spcPct val="150000"/>
              </a:lnSpc>
              <a:spcBef>
                <a:spcPts val="0"/>
              </a:spcBef>
              <a:spcAft>
                <a:spcPts val="0"/>
              </a:spcAft>
              <a:buClr>
                <a:srgbClr val="000000"/>
              </a:buClr>
              <a:buSzPts val="1000"/>
              <a:buFont typeface="Arial"/>
              <a:buNone/>
            </a:pPr>
            <a:r>
              <a:t/>
            </a:r>
            <a:endParaRPr b="0" i="0" sz="10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t/>
            </a:r>
            <a:endParaRPr b="1" i="0" sz="1800" u="none" cap="none" strike="noStrike">
              <a:solidFill>
                <a:srgbClr val="2DC5FA"/>
              </a:solidFill>
              <a:latin typeface="Roboto"/>
              <a:ea typeface="Roboto"/>
              <a:cs typeface="Roboto"/>
              <a:sym typeface="Roboto"/>
            </a:endParaRPr>
          </a:p>
          <a:p>
            <a:pPr indent="0" lvl="0" marL="457200" marR="0" rtl="0" algn="just">
              <a:lnSpc>
                <a:spcPct val="150000"/>
              </a:lnSpc>
              <a:spcBef>
                <a:spcPts val="0"/>
              </a:spcBef>
              <a:spcAft>
                <a:spcPts val="0"/>
              </a:spcAft>
              <a:buClr>
                <a:srgbClr val="000000"/>
              </a:buClr>
              <a:buSzPts val="900"/>
              <a:buFont typeface="Arial"/>
              <a:buNone/>
            </a:pPr>
            <a:r>
              <a:t/>
            </a:r>
            <a:endParaRPr b="0" i="0" sz="900" u="none" cap="none" strike="noStrike">
              <a:solidFill>
                <a:schemeClr val="dk1"/>
              </a:solidFill>
              <a:latin typeface="Roboto"/>
              <a:ea typeface="Roboto"/>
              <a:cs typeface="Roboto"/>
              <a:sym typeface="Roboto"/>
            </a:endParaRPr>
          </a:p>
        </p:txBody>
      </p:sp>
      <p:sp>
        <p:nvSpPr>
          <p:cNvPr id="105" name="Google Shape;105;g366d443c648_0_88"/>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06" name="Google Shape;106;g366d443c648_0_88"/>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07" name="Google Shape;107;g366d443c648_0_88"/>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8" name="Google Shape;108;g366d443c648_0_88"/>
          <p:cNvPicPr preferRelativeResize="0"/>
          <p:nvPr/>
        </p:nvPicPr>
        <p:blipFill rotWithShape="1">
          <a:blip r:embed="rId5">
            <a:alphaModFix/>
          </a:blip>
          <a:srcRect b="0" l="0" r="0" t="0"/>
          <a:stretch/>
        </p:blipFill>
        <p:spPr>
          <a:xfrm>
            <a:off x="1340375" y="1918300"/>
            <a:ext cx="6686550" cy="2762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 name="Shape 112"/>
        <p:cNvGrpSpPr/>
        <p:nvPr/>
      </p:nvGrpSpPr>
      <p:grpSpPr>
        <a:xfrm>
          <a:off x="0" y="0"/>
          <a:ext cx="0" cy="0"/>
          <a:chOff x="0" y="0"/>
          <a:chExt cx="0" cy="0"/>
        </a:xfrm>
      </p:grpSpPr>
      <p:sp>
        <p:nvSpPr>
          <p:cNvPr id="113" name="Google Shape;113;g366d443c648_0_8"/>
          <p:cNvSpPr txBox="1"/>
          <p:nvPr/>
        </p:nvSpPr>
        <p:spPr>
          <a:xfrm>
            <a:off x="719375" y="1123567"/>
            <a:ext cx="6968700" cy="4799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100"/>
              <a:buFont typeface="Arial"/>
              <a:buNone/>
            </a:pPr>
            <a:r>
              <a:rPr b="1" i="0" lang="en-US" sz="1800" u="none" cap="none" strike="noStrike">
                <a:solidFill>
                  <a:srgbClr val="2DC5FA"/>
                </a:solidFill>
                <a:latin typeface="Roboto"/>
                <a:ea typeface="Roboto"/>
                <a:cs typeface="Roboto"/>
                <a:sym typeface="Roboto"/>
              </a:rPr>
              <a:t>Image as a structure: RGB</a:t>
            </a:r>
            <a:endParaRPr b="1" i="0" sz="1800" u="none" cap="none" strike="noStrike">
              <a:solidFill>
                <a:srgbClr val="2DC5FA"/>
              </a:solidFill>
              <a:latin typeface="Roboto"/>
              <a:ea typeface="Roboto"/>
              <a:cs typeface="Roboto"/>
              <a:sym typeface="Roboto"/>
            </a:endParaRPr>
          </a:p>
          <a:p>
            <a:pPr indent="0" lvl="0" marL="457200" marR="0" rtl="0" algn="just">
              <a:lnSpc>
                <a:spcPct val="150000"/>
              </a:lnSpc>
              <a:spcBef>
                <a:spcPts val="0"/>
              </a:spcBef>
              <a:spcAft>
                <a:spcPts val="0"/>
              </a:spcAft>
              <a:buClr>
                <a:srgbClr val="000000"/>
              </a:buClr>
              <a:buSzPts val="1000"/>
              <a:buFont typeface="Arial"/>
              <a:buNone/>
            </a:pPr>
            <a:r>
              <a:t/>
            </a:r>
            <a:endParaRPr b="0" i="0" sz="10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100"/>
              <a:buFont typeface="Arial"/>
              <a:buNone/>
            </a:pPr>
            <a:r>
              <a:t/>
            </a:r>
            <a:endParaRPr b="1" i="0" sz="1800" u="none" cap="none" strike="noStrike">
              <a:solidFill>
                <a:srgbClr val="2DC5FA"/>
              </a:solidFill>
              <a:latin typeface="Roboto"/>
              <a:ea typeface="Roboto"/>
              <a:cs typeface="Roboto"/>
              <a:sym typeface="Roboto"/>
            </a:endParaRPr>
          </a:p>
          <a:p>
            <a:pPr indent="0" lvl="0" marL="457200" marR="0" rtl="0" algn="just">
              <a:lnSpc>
                <a:spcPct val="150000"/>
              </a:lnSpc>
              <a:spcBef>
                <a:spcPts val="0"/>
              </a:spcBef>
              <a:spcAft>
                <a:spcPts val="0"/>
              </a:spcAft>
              <a:buClr>
                <a:srgbClr val="000000"/>
              </a:buClr>
              <a:buSzPts val="900"/>
              <a:buFont typeface="Arial"/>
              <a:buNone/>
            </a:pPr>
            <a:r>
              <a:t/>
            </a:r>
            <a:endParaRPr b="0" i="0" sz="900" u="none" cap="none" strike="noStrike">
              <a:solidFill>
                <a:schemeClr val="dk1"/>
              </a:solidFill>
              <a:latin typeface="Roboto"/>
              <a:ea typeface="Roboto"/>
              <a:cs typeface="Roboto"/>
              <a:sym typeface="Roboto"/>
            </a:endParaRPr>
          </a:p>
        </p:txBody>
      </p:sp>
      <p:sp>
        <p:nvSpPr>
          <p:cNvPr id="114" name="Google Shape;114;g366d443c648_0_8"/>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15" name="Google Shape;115;g366d443c648_0_8"/>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16" name="Google Shape;116;g366d443c648_0_8"/>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g366d443c648_0_8"/>
          <p:cNvPicPr preferRelativeResize="0"/>
          <p:nvPr/>
        </p:nvPicPr>
        <p:blipFill rotWithShape="1">
          <a:blip r:embed="rId5">
            <a:alphaModFix/>
          </a:blip>
          <a:srcRect b="0" l="0" r="0" t="0"/>
          <a:stretch/>
        </p:blipFill>
        <p:spPr>
          <a:xfrm>
            <a:off x="4434087" y="1695900"/>
            <a:ext cx="3827775" cy="3170150"/>
          </a:xfrm>
          <a:prstGeom prst="rect">
            <a:avLst/>
          </a:prstGeom>
          <a:noFill/>
          <a:ln>
            <a:noFill/>
          </a:ln>
        </p:spPr>
      </p:pic>
      <p:pic>
        <p:nvPicPr>
          <p:cNvPr id="118" name="Google Shape;118;g366d443c648_0_8"/>
          <p:cNvPicPr preferRelativeResize="0"/>
          <p:nvPr/>
        </p:nvPicPr>
        <p:blipFill rotWithShape="1">
          <a:blip r:embed="rId6">
            <a:alphaModFix/>
          </a:blip>
          <a:srcRect b="0" l="0" r="0" t="0"/>
          <a:stretch/>
        </p:blipFill>
        <p:spPr>
          <a:xfrm>
            <a:off x="839253" y="2022733"/>
            <a:ext cx="3048400" cy="2925024"/>
          </a:xfrm>
          <a:prstGeom prst="rect">
            <a:avLst/>
          </a:prstGeom>
          <a:noFill/>
          <a:ln>
            <a:noFill/>
          </a:ln>
        </p:spPr>
      </p:pic>
      <p:sp>
        <p:nvSpPr>
          <p:cNvPr id="119" name="Google Shape;119;g366d443c648_0_8"/>
          <p:cNvSpPr txBox="1"/>
          <p:nvPr/>
        </p:nvSpPr>
        <p:spPr>
          <a:xfrm>
            <a:off x="5032675"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Arial"/>
                <a:ea typeface="Arial"/>
                <a:cs typeface="Arial"/>
                <a:sym typeface="Arial"/>
              </a:rPr>
              <a:t>R</a:t>
            </a:r>
            <a:endParaRPr b="0" i="0" sz="1400" u="none" cap="none" strike="noStrike">
              <a:solidFill>
                <a:srgbClr val="FF0000"/>
              </a:solidFill>
              <a:latin typeface="Arial"/>
              <a:ea typeface="Arial"/>
              <a:cs typeface="Arial"/>
              <a:sym typeface="Arial"/>
            </a:endParaRPr>
          </a:p>
        </p:txBody>
      </p:sp>
      <p:sp>
        <p:nvSpPr>
          <p:cNvPr id="120" name="Google Shape;120;g366d443c648_0_8"/>
          <p:cNvSpPr txBox="1"/>
          <p:nvPr/>
        </p:nvSpPr>
        <p:spPr>
          <a:xfrm>
            <a:off x="6097450" y="3833767"/>
            <a:ext cx="20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8761D"/>
                </a:solidFill>
                <a:latin typeface="Arial"/>
                <a:ea typeface="Arial"/>
                <a:cs typeface="Arial"/>
                <a:sym typeface="Arial"/>
              </a:rPr>
              <a:t>G</a:t>
            </a:r>
            <a:endParaRPr b="0" i="0" sz="1400" u="none" cap="none" strike="noStrike">
              <a:solidFill>
                <a:srgbClr val="38761D"/>
              </a:solidFill>
              <a:latin typeface="Arial"/>
              <a:ea typeface="Arial"/>
              <a:cs typeface="Arial"/>
              <a:sym typeface="Arial"/>
            </a:endParaRPr>
          </a:p>
        </p:txBody>
      </p:sp>
      <p:sp>
        <p:nvSpPr>
          <p:cNvPr id="121" name="Google Shape;121;g366d443c648_0_8"/>
          <p:cNvSpPr txBox="1"/>
          <p:nvPr/>
        </p:nvSpPr>
        <p:spPr>
          <a:xfrm>
            <a:off x="7725550"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155CC"/>
                </a:solidFill>
                <a:latin typeface="Arial"/>
                <a:ea typeface="Arial"/>
                <a:cs typeface="Arial"/>
                <a:sym typeface="Arial"/>
              </a:rPr>
              <a:t>B</a:t>
            </a:r>
            <a:endParaRPr b="0" i="0" sz="1400" u="none" cap="none" strike="noStrike">
              <a:solidFill>
                <a:srgbClr val="1155CC"/>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pic>
        <p:nvPicPr>
          <p:cNvPr id="126" name="Google Shape;126;g366d443c648_0_20"/>
          <p:cNvPicPr preferRelativeResize="0"/>
          <p:nvPr/>
        </p:nvPicPr>
        <p:blipFill>
          <a:blip r:embed="rId4">
            <a:alphaModFix/>
          </a:blip>
          <a:stretch>
            <a:fillRect/>
          </a:stretch>
        </p:blipFill>
        <p:spPr>
          <a:xfrm>
            <a:off x="614087" y="1337875"/>
            <a:ext cx="7915824" cy="4182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g366d443c648_0_103"/>
          <p:cNvSpPr txBox="1"/>
          <p:nvPr/>
        </p:nvSpPr>
        <p:spPr>
          <a:xfrm>
            <a:off x="719375" y="1123575"/>
            <a:ext cx="7659300" cy="4799100"/>
          </a:xfrm>
          <a:prstGeom prst="rect">
            <a:avLst/>
          </a:prstGeom>
          <a:noFill/>
          <a:ln>
            <a:noFill/>
          </a:ln>
        </p:spPr>
        <p:txBody>
          <a:bodyPr anchorCtr="0" anchor="t" bIns="91425" lIns="91425" spcFirstLastPara="1" rIns="91425" wrap="square" tIns="91425">
            <a:noAutofit/>
          </a:bodyPr>
          <a:lstStyle/>
          <a:p>
            <a:pPr indent="0" lvl="0" marL="457200" marR="0" rtl="0" algn="just">
              <a:lnSpc>
                <a:spcPct val="150000"/>
              </a:lnSpc>
              <a:spcBef>
                <a:spcPts val="0"/>
              </a:spcBef>
              <a:spcAft>
                <a:spcPts val="0"/>
              </a:spcAft>
              <a:buClr>
                <a:srgbClr val="000000"/>
              </a:buClr>
              <a:buSzPts val="900"/>
              <a:buFont typeface="Arial"/>
              <a:buNone/>
            </a:pPr>
            <a:r>
              <a:rPr lang="en-US" sz="1750">
                <a:solidFill>
                  <a:srgbClr val="273239"/>
                </a:solidFill>
                <a:highlight>
                  <a:srgbClr val="FFFFFF"/>
                </a:highlight>
                <a:latin typeface="Nunito"/>
                <a:ea typeface="Nunito"/>
                <a:cs typeface="Nunito"/>
                <a:sym typeface="Nunito"/>
              </a:rPr>
              <a:t>CNNs consist of multiple layers like the </a:t>
            </a:r>
            <a:r>
              <a:rPr b="1" lang="en-US" sz="1750">
                <a:solidFill>
                  <a:srgbClr val="273239"/>
                </a:solidFill>
                <a:highlight>
                  <a:srgbClr val="FFFFFF"/>
                </a:highlight>
                <a:latin typeface="Nunito"/>
                <a:ea typeface="Nunito"/>
                <a:cs typeface="Nunito"/>
                <a:sym typeface="Nunito"/>
              </a:rPr>
              <a:t>input layer, Convolutional layer, pooling layer, and fully connected layers.</a:t>
            </a:r>
            <a:r>
              <a:rPr lang="en-US" sz="1750">
                <a:solidFill>
                  <a:srgbClr val="273239"/>
                </a:solidFill>
                <a:highlight>
                  <a:srgbClr val="FFFFFF"/>
                </a:highlight>
                <a:latin typeface="Nunito"/>
                <a:ea typeface="Nunito"/>
                <a:cs typeface="Nunito"/>
                <a:sym typeface="Nunito"/>
              </a:rPr>
              <a:t> Let's learn more about CNNs in detail.</a:t>
            </a:r>
            <a:endParaRPr b="0" i="0" sz="5200" u="none" cap="none" strike="noStrike">
              <a:solidFill>
                <a:schemeClr val="dk1"/>
              </a:solidFill>
              <a:latin typeface="Roboto"/>
              <a:ea typeface="Roboto"/>
              <a:cs typeface="Roboto"/>
              <a:sym typeface="Roboto"/>
            </a:endParaRPr>
          </a:p>
        </p:txBody>
      </p:sp>
      <p:sp>
        <p:nvSpPr>
          <p:cNvPr id="132" name="Google Shape;132;g366d443c648_0_103"/>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33" name="Google Shape;133;g366d443c648_0_103"/>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pic>
        <p:nvPicPr>
          <p:cNvPr id="134" name="Google Shape;134;g366d443c648_0_103"/>
          <p:cNvPicPr preferRelativeResize="0"/>
          <p:nvPr/>
        </p:nvPicPr>
        <p:blipFill>
          <a:blip r:embed="rId5">
            <a:alphaModFix/>
          </a:blip>
          <a:stretch>
            <a:fillRect/>
          </a:stretch>
        </p:blipFill>
        <p:spPr>
          <a:xfrm>
            <a:off x="915425" y="2349275"/>
            <a:ext cx="7659375" cy="3149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8" name="Shape 138"/>
        <p:cNvGrpSpPr/>
        <p:nvPr/>
      </p:nvGrpSpPr>
      <p:grpSpPr>
        <a:xfrm>
          <a:off x="0" y="0"/>
          <a:ext cx="0" cy="0"/>
          <a:chOff x="0" y="0"/>
          <a:chExt cx="0" cy="0"/>
        </a:xfrm>
      </p:grpSpPr>
      <p:sp>
        <p:nvSpPr>
          <p:cNvPr id="139" name="Google Shape;139;g366d443c648_0_115"/>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40" name="Google Shape;140;g366d443c648_0_115"/>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41" name="Google Shape;141;g366d443c648_0_115"/>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366d443c648_0_115"/>
          <p:cNvSpPr txBox="1"/>
          <p:nvPr/>
        </p:nvSpPr>
        <p:spPr>
          <a:xfrm>
            <a:off x="5032675"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143" name="Google Shape;143;g366d443c648_0_115"/>
          <p:cNvSpPr txBox="1"/>
          <p:nvPr/>
        </p:nvSpPr>
        <p:spPr>
          <a:xfrm>
            <a:off x="482500" y="783100"/>
            <a:ext cx="8163300" cy="335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850">
                <a:solidFill>
                  <a:srgbClr val="273239"/>
                </a:solidFill>
                <a:highlight>
                  <a:srgbClr val="FFFFFF"/>
                </a:highlight>
                <a:latin typeface="Nunito"/>
                <a:ea typeface="Nunito"/>
                <a:cs typeface="Nunito"/>
                <a:sym typeface="Nunito"/>
              </a:rPr>
              <a:t>Let’s take an example by running a covnets on of image of dimension 32 x 32 x 3. </a:t>
            </a:r>
            <a:endParaRPr sz="1850">
              <a:solidFill>
                <a:srgbClr val="273239"/>
              </a:solidFill>
              <a:highlight>
                <a:srgbClr val="FFFFFF"/>
              </a:highlight>
              <a:latin typeface="Nunito"/>
              <a:ea typeface="Nunito"/>
              <a:cs typeface="Nunito"/>
              <a:sym typeface="Nunito"/>
            </a:endParaRPr>
          </a:p>
          <a:p>
            <a:pPr indent="-346075" lvl="0" marL="685800" rtl="0" algn="l">
              <a:lnSpc>
                <a:spcPct val="158000"/>
              </a:lnSpc>
              <a:spcBef>
                <a:spcPts val="800"/>
              </a:spcBef>
              <a:spcAft>
                <a:spcPts val="0"/>
              </a:spcAft>
              <a:buClr>
                <a:srgbClr val="273239"/>
              </a:buClr>
              <a:buSzPts val="1850"/>
              <a:buFont typeface="Nunito"/>
              <a:buChar char="●"/>
            </a:pPr>
            <a:r>
              <a:rPr b="1" lang="en-US" sz="2250">
                <a:solidFill>
                  <a:srgbClr val="273239"/>
                </a:solidFill>
                <a:highlight>
                  <a:srgbClr val="FFFFFF"/>
                </a:highlight>
                <a:latin typeface="Nunito"/>
                <a:ea typeface="Nunito"/>
                <a:cs typeface="Nunito"/>
                <a:sym typeface="Nunito"/>
              </a:rPr>
              <a:t>Input Layer:</a:t>
            </a:r>
            <a:r>
              <a:rPr lang="en-US" sz="1850">
                <a:solidFill>
                  <a:srgbClr val="273239"/>
                </a:solidFill>
                <a:highlight>
                  <a:srgbClr val="FFFFFF"/>
                </a:highlight>
                <a:latin typeface="Nunito"/>
                <a:ea typeface="Nunito"/>
                <a:cs typeface="Nunito"/>
                <a:sym typeface="Nunito"/>
              </a:rPr>
              <a:t> It’s the layer in which we give input to our model. In CNN, Generally, the input will be an image or a sequence of images. This layer holds the raw input of the image with width 32, height 32, and depth 3.</a:t>
            </a:r>
            <a:endParaRPr sz="1850">
              <a:solidFill>
                <a:srgbClr val="273239"/>
              </a:solidFill>
              <a:highlight>
                <a:srgbClr val="FFFFFF"/>
              </a:highlight>
              <a:latin typeface="Nunito"/>
              <a:ea typeface="Nunito"/>
              <a:cs typeface="Nunito"/>
              <a:sym typeface="Nunito"/>
            </a:endParaRPr>
          </a:p>
          <a:p>
            <a:pPr indent="0" lvl="0" marL="457200" rtl="0" algn="l">
              <a:lnSpc>
                <a:spcPct val="158000"/>
              </a:lnSpc>
              <a:spcBef>
                <a:spcPts val="1800"/>
              </a:spcBef>
              <a:spcAft>
                <a:spcPts val="1800"/>
              </a:spcAft>
              <a:buNone/>
            </a:pPr>
            <a:r>
              <a:t/>
            </a:r>
            <a:endParaRPr sz="1850">
              <a:solidFill>
                <a:srgbClr val="273239"/>
              </a:solidFill>
              <a:highlight>
                <a:srgbClr val="FFFFFF"/>
              </a:highlight>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
        <p:nvSpPr>
          <p:cNvPr id="148" name="Google Shape;148;g366d443c648_0_137"/>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49" name="Google Shape;149;g366d443c648_0_137"/>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50" name="Google Shape;150;g366d443c648_0_137"/>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66d443c648_0_137"/>
          <p:cNvSpPr txBox="1"/>
          <p:nvPr/>
        </p:nvSpPr>
        <p:spPr>
          <a:xfrm>
            <a:off x="5032675"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152" name="Google Shape;152;g366d443c648_0_137"/>
          <p:cNvSpPr txBox="1"/>
          <p:nvPr/>
        </p:nvSpPr>
        <p:spPr>
          <a:xfrm>
            <a:off x="482500" y="783100"/>
            <a:ext cx="8163300" cy="4421400"/>
          </a:xfrm>
          <a:prstGeom prst="rect">
            <a:avLst/>
          </a:prstGeom>
          <a:noFill/>
          <a:ln>
            <a:noFill/>
          </a:ln>
        </p:spPr>
        <p:txBody>
          <a:bodyPr anchorCtr="0" anchor="t" bIns="91425" lIns="91425" spcFirstLastPara="1" rIns="91425" wrap="square" tIns="91425">
            <a:spAutoFit/>
          </a:bodyPr>
          <a:lstStyle/>
          <a:p>
            <a:pPr indent="-377825" lvl="0" marL="685800" rtl="0" algn="l">
              <a:lnSpc>
                <a:spcPct val="158000"/>
              </a:lnSpc>
              <a:spcBef>
                <a:spcPts val="0"/>
              </a:spcBef>
              <a:spcAft>
                <a:spcPts val="0"/>
              </a:spcAft>
              <a:buClr>
                <a:srgbClr val="273239"/>
              </a:buClr>
              <a:buSzPts val="2350"/>
              <a:buFont typeface="Nunito"/>
              <a:buChar char="●"/>
            </a:pPr>
            <a:r>
              <a:rPr b="1" lang="en-US" sz="2350">
                <a:solidFill>
                  <a:srgbClr val="273239"/>
                </a:solidFill>
                <a:highlight>
                  <a:srgbClr val="FFFFFF"/>
                </a:highlight>
                <a:latin typeface="Nunito"/>
                <a:ea typeface="Nunito"/>
                <a:cs typeface="Nunito"/>
                <a:sym typeface="Nunito"/>
              </a:rPr>
              <a:t>Convolutional Layers:</a:t>
            </a:r>
            <a:endParaRPr b="1" sz="2350">
              <a:solidFill>
                <a:srgbClr val="273239"/>
              </a:solidFill>
              <a:highlight>
                <a:srgbClr val="FFFFFF"/>
              </a:highlight>
              <a:latin typeface="Nunito"/>
              <a:ea typeface="Nunito"/>
              <a:cs typeface="Nunito"/>
              <a:sym typeface="Nunito"/>
            </a:endParaRPr>
          </a:p>
          <a:p>
            <a:pPr indent="0" lvl="0" marL="457200" rtl="0" algn="l">
              <a:lnSpc>
                <a:spcPct val="158000"/>
              </a:lnSpc>
              <a:spcBef>
                <a:spcPts val="1800"/>
              </a:spcBef>
              <a:spcAft>
                <a:spcPts val="1800"/>
              </a:spcAft>
              <a:buNone/>
            </a:pPr>
            <a:r>
              <a:rPr lang="en-US" sz="1850">
                <a:solidFill>
                  <a:srgbClr val="273239"/>
                </a:solidFill>
                <a:highlight>
                  <a:srgbClr val="FFFFFF"/>
                </a:highlight>
                <a:latin typeface="Nunito"/>
                <a:ea typeface="Nunito"/>
                <a:cs typeface="Nunito"/>
                <a:sym typeface="Nunito"/>
              </a:rPr>
              <a:t>This is the layer, which is used to extract the feature from the input dataset. It applies a set of learnable filters known as the kernels to the input images. The filters/kernels are smaller matrices usually 2x2, 3x3, or 5x5 shape. it slides over the input image data and computes the dot product between kernel weight and the corresponding input image patch. The output of this layer is referred as feature maps. Suppose we use a total of 12 filters for this layer we’ll get an output volume of dimension 32 x 32 x 12.</a:t>
            </a:r>
            <a:endParaRPr sz="1850">
              <a:solidFill>
                <a:srgbClr val="273239"/>
              </a:solidFill>
              <a:highlight>
                <a:srgbClr val="FFFFFF"/>
              </a:highlight>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sp>
        <p:nvSpPr>
          <p:cNvPr id="157" name="Google Shape;157;g366d443c648_0_201"/>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58" name="Google Shape;158;g366d443c648_0_201"/>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59" name="Google Shape;159;g366d443c648_0_201"/>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g366d443c648_0_201"/>
          <p:cNvSpPr txBox="1"/>
          <p:nvPr/>
        </p:nvSpPr>
        <p:spPr>
          <a:xfrm>
            <a:off x="5032675"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161" name="Google Shape;161;g366d443c648_0_201"/>
          <p:cNvSpPr txBox="1"/>
          <p:nvPr/>
        </p:nvSpPr>
        <p:spPr>
          <a:xfrm>
            <a:off x="482500" y="783100"/>
            <a:ext cx="8163300" cy="1271700"/>
          </a:xfrm>
          <a:prstGeom prst="rect">
            <a:avLst/>
          </a:prstGeom>
          <a:noFill/>
          <a:ln>
            <a:noFill/>
          </a:ln>
        </p:spPr>
        <p:txBody>
          <a:bodyPr anchorCtr="0" anchor="t" bIns="91425" lIns="91425" spcFirstLastPara="1" rIns="91425" wrap="square" tIns="91425">
            <a:spAutoFit/>
          </a:bodyPr>
          <a:lstStyle/>
          <a:p>
            <a:pPr indent="-377825" lvl="0" marL="685800" rtl="0" algn="l">
              <a:lnSpc>
                <a:spcPct val="158000"/>
              </a:lnSpc>
              <a:spcBef>
                <a:spcPts val="0"/>
              </a:spcBef>
              <a:spcAft>
                <a:spcPts val="0"/>
              </a:spcAft>
              <a:buClr>
                <a:srgbClr val="273239"/>
              </a:buClr>
              <a:buSzPts val="2350"/>
              <a:buFont typeface="Nunito"/>
              <a:buChar char="●"/>
            </a:pPr>
            <a:r>
              <a:rPr b="1" lang="en-US" sz="2350">
                <a:solidFill>
                  <a:srgbClr val="273239"/>
                </a:solidFill>
                <a:highlight>
                  <a:srgbClr val="FFFFFF"/>
                </a:highlight>
                <a:latin typeface="Nunito"/>
                <a:ea typeface="Nunito"/>
                <a:cs typeface="Nunito"/>
                <a:sym typeface="Nunito"/>
              </a:rPr>
              <a:t>Convolutional Layers:</a:t>
            </a:r>
            <a:endParaRPr b="1" sz="2350">
              <a:solidFill>
                <a:srgbClr val="273239"/>
              </a:solidFill>
              <a:highlight>
                <a:srgbClr val="FFFFFF"/>
              </a:highlight>
              <a:latin typeface="Nunito"/>
              <a:ea typeface="Nunito"/>
              <a:cs typeface="Nunito"/>
              <a:sym typeface="Nunito"/>
            </a:endParaRPr>
          </a:p>
          <a:p>
            <a:pPr indent="0" lvl="0" marL="457200" rtl="0" algn="l">
              <a:lnSpc>
                <a:spcPct val="158000"/>
              </a:lnSpc>
              <a:spcBef>
                <a:spcPts val="1800"/>
              </a:spcBef>
              <a:spcAft>
                <a:spcPts val="1800"/>
              </a:spcAft>
              <a:buNone/>
            </a:pPr>
            <a:r>
              <a:t/>
            </a:r>
            <a:endParaRPr sz="1850">
              <a:solidFill>
                <a:srgbClr val="273239"/>
              </a:solidFill>
              <a:highlight>
                <a:srgbClr val="FFFFFF"/>
              </a:highlight>
              <a:latin typeface="Nunito"/>
              <a:ea typeface="Nunito"/>
              <a:cs typeface="Nunito"/>
              <a:sym typeface="Nunito"/>
            </a:endParaRPr>
          </a:p>
        </p:txBody>
      </p:sp>
      <p:pic>
        <p:nvPicPr>
          <p:cNvPr id="162" name="Google Shape;162;g366d443c648_0_201"/>
          <p:cNvPicPr preferRelativeResize="0"/>
          <p:nvPr/>
        </p:nvPicPr>
        <p:blipFill>
          <a:blip r:embed="rId5">
            <a:alphaModFix/>
          </a:blip>
          <a:stretch>
            <a:fillRect/>
          </a:stretch>
        </p:blipFill>
        <p:spPr>
          <a:xfrm>
            <a:off x="1028225" y="1751102"/>
            <a:ext cx="6662525" cy="356263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 name="Shape 166"/>
        <p:cNvGrpSpPr/>
        <p:nvPr/>
      </p:nvGrpSpPr>
      <p:grpSpPr>
        <a:xfrm>
          <a:off x="0" y="0"/>
          <a:ext cx="0" cy="0"/>
          <a:chOff x="0" y="0"/>
          <a:chExt cx="0" cy="0"/>
        </a:xfrm>
      </p:grpSpPr>
      <p:sp>
        <p:nvSpPr>
          <p:cNvPr id="167" name="Google Shape;167;g366d443c648_0_146"/>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68" name="Google Shape;168;g366d443c648_0_146"/>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69" name="Google Shape;169;g366d443c648_0_146"/>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366d443c648_0_146"/>
          <p:cNvSpPr txBox="1"/>
          <p:nvPr/>
        </p:nvSpPr>
        <p:spPr>
          <a:xfrm>
            <a:off x="5032675"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171" name="Google Shape;171;g366d443c648_0_146"/>
          <p:cNvSpPr txBox="1"/>
          <p:nvPr/>
        </p:nvSpPr>
        <p:spPr>
          <a:xfrm>
            <a:off x="482500" y="783100"/>
            <a:ext cx="8163300" cy="5295600"/>
          </a:xfrm>
          <a:prstGeom prst="rect">
            <a:avLst/>
          </a:prstGeom>
          <a:noFill/>
          <a:ln>
            <a:noFill/>
          </a:ln>
        </p:spPr>
        <p:txBody>
          <a:bodyPr anchorCtr="0" anchor="t" bIns="91425" lIns="91425" spcFirstLastPara="1" rIns="91425" wrap="square" tIns="91425">
            <a:spAutoFit/>
          </a:bodyPr>
          <a:lstStyle/>
          <a:p>
            <a:pPr indent="-352425" lvl="0" marL="685800" rtl="0" algn="l">
              <a:lnSpc>
                <a:spcPct val="158000"/>
              </a:lnSpc>
              <a:spcBef>
                <a:spcPts val="0"/>
              </a:spcBef>
              <a:spcAft>
                <a:spcPts val="0"/>
              </a:spcAft>
              <a:buClr>
                <a:srgbClr val="273239"/>
              </a:buClr>
              <a:buSzPts val="1950"/>
              <a:buFont typeface="Nunito"/>
              <a:buChar char="●"/>
            </a:pPr>
            <a:r>
              <a:rPr b="1" lang="en-US" sz="2650">
                <a:solidFill>
                  <a:srgbClr val="273239"/>
                </a:solidFill>
                <a:highlight>
                  <a:srgbClr val="FFFFFF"/>
                </a:highlight>
                <a:latin typeface="Nunito"/>
                <a:ea typeface="Nunito"/>
                <a:cs typeface="Nunito"/>
                <a:sym typeface="Nunito"/>
              </a:rPr>
              <a:t>Activation layer</a:t>
            </a:r>
            <a:r>
              <a:rPr lang="en-US" sz="2650">
                <a:solidFill>
                  <a:srgbClr val="273239"/>
                </a:solidFill>
                <a:highlight>
                  <a:srgbClr val="FFFFFF"/>
                </a:highlight>
                <a:latin typeface="Nunito"/>
                <a:ea typeface="Nunito"/>
                <a:cs typeface="Nunito"/>
                <a:sym typeface="Nunito"/>
              </a:rPr>
              <a:t>: </a:t>
            </a:r>
            <a:endParaRPr sz="2650">
              <a:solidFill>
                <a:srgbClr val="273239"/>
              </a:solidFill>
              <a:highlight>
                <a:srgbClr val="FFFFFF"/>
              </a:highlight>
              <a:latin typeface="Nunito"/>
              <a:ea typeface="Nunito"/>
              <a:cs typeface="Nunito"/>
              <a:sym typeface="Nunito"/>
            </a:endParaRPr>
          </a:p>
          <a:p>
            <a:pPr indent="0" lvl="0" marL="457200" rtl="0" algn="l">
              <a:lnSpc>
                <a:spcPct val="158000"/>
              </a:lnSpc>
              <a:spcBef>
                <a:spcPts val="1800"/>
              </a:spcBef>
              <a:spcAft>
                <a:spcPts val="0"/>
              </a:spcAft>
              <a:buNone/>
            </a:pPr>
            <a:r>
              <a:rPr lang="en-US" sz="1950">
                <a:solidFill>
                  <a:srgbClr val="273239"/>
                </a:solidFill>
                <a:highlight>
                  <a:srgbClr val="FFFFFF"/>
                </a:highlight>
                <a:latin typeface="Nunito"/>
                <a:ea typeface="Nunito"/>
                <a:cs typeface="Nunito"/>
                <a:sym typeface="Nunito"/>
              </a:rPr>
              <a:t>By adding an activation function to the output of the preceding layer, activation layers add nonlinearity to the network. it will apply an element-wise activation function to the output of the convolution layer. Some common activation functions are </a:t>
            </a:r>
            <a:r>
              <a:rPr b="1" lang="en-US" sz="1950">
                <a:solidFill>
                  <a:srgbClr val="273239"/>
                </a:solidFill>
                <a:highlight>
                  <a:srgbClr val="FFFFFF"/>
                </a:highlight>
                <a:latin typeface="Nunito"/>
                <a:ea typeface="Nunito"/>
                <a:cs typeface="Nunito"/>
                <a:sym typeface="Nunito"/>
              </a:rPr>
              <a:t>RELU</a:t>
            </a:r>
            <a:r>
              <a:rPr lang="en-US" sz="1950">
                <a:solidFill>
                  <a:srgbClr val="273239"/>
                </a:solidFill>
                <a:highlight>
                  <a:srgbClr val="FFFFFF"/>
                </a:highlight>
                <a:latin typeface="Nunito"/>
                <a:ea typeface="Nunito"/>
                <a:cs typeface="Nunito"/>
                <a:sym typeface="Nunito"/>
              </a:rPr>
              <a:t>: max(0, x),  </a:t>
            </a:r>
            <a:r>
              <a:rPr b="1" lang="en-US" sz="1950">
                <a:solidFill>
                  <a:srgbClr val="273239"/>
                </a:solidFill>
                <a:highlight>
                  <a:srgbClr val="FFFFFF"/>
                </a:highlight>
                <a:latin typeface="Nunito"/>
                <a:ea typeface="Nunito"/>
                <a:cs typeface="Nunito"/>
                <a:sym typeface="Nunito"/>
              </a:rPr>
              <a:t>Tanh</a:t>
            </a:r>
            <a:r>
              <a:rPr lang="en-US" sz="1950">
                <a:solidFill>
                  <a:srgbClr val="273239"/>
                </a:solidFill>
                <a:highlight>
                  <a:srgbClr val="FFFFFF"/>
                </a:highlight>
                <a:latin typeface="Nunito"/>
                <a:ea typeface="Nunito"/>
                <a:cs typeface="Nunito"/>
                <a:sym typeface="Nunito"/>
              </a:rPr>
              <a:t>, </a:t>
            </a:r>
            <a:r>
              <a:rPr b="1" lang="en-US" sz="1950">
                <a:solidFill>
                  <a:srgbClr val="273239"/>
                </a:solidFill>
                <a:highlight>
                  <a:srgbClr val="FFFFFF"/>
                </a:highlight>
                <a:latin typeface="Nunito"/>
                <a:ea typeface="Nunito"/>
                <a:cs typeface="Nunito"/>
                <a:sym typeface="Nunito"/>
              </a:rPr>
              <a:t>Leaky RELU</a:t>
            </a:r>
            <a:r>
              <a:rPr lang="en-US" sz="1950">
                <a:solidFill>
                  <a:srgbClr val="273239"/>
                </a:solidFill>
                <a:highlight>
                  <a:srgbClr val="FFFFFF"/>
                </a:highlight>
                <a:latin typeface="Nunito"/>
                <a:ea typeface="Nunito"/>
                <a:cs typeface="Nunito"/>
                <a:sym typeface="Nunito"/>
              </a:rPr>
              <a:t>, etc. The volume remains unchanged hence output volume will have dimensions 32 x 32 x 12.</a:t>
            </a:r>
            <a:endParaRPr sz="1950">
              <a:solidFill>
                <a:srgbClr val="273239"/>
              </a:solidFill>
              <a:highlight>
                <a:srgbClr val="FFFFFF"/>
              </a:highlight>
              <a:latin typeface="Nunito"/>
              <a:ea typeface="Nunito"/>
              <a:cs typeface="Nunito"/>
              <a:sym typeface="Nunito"/>
            </a:endParaRPr>
          </a:p>
          <a:p>
            <a:pPr indent="0" lvl="0" marL="457200" rtl="0" algn="l">
              <a:lnSpc>
                <a:spcPct val="158000"/>
              </a:lnSpc>
              <a:spcBef>
                <a:spcPts val="1800"/>
              </a:spcBef>
              <a:spcAft>
                <a:spcPts val="0"/>
              </a:spcAft>
              <a:buNone/>
            </a:pPr>
            <a:r>
              <a:t/>
            </a:r>
            <a:endParaRPr sz="1950">
              <a:solidFill>
                <a:srgbClr val="273239"/>
              </a:solidFill>
              <a:highlight>
                <a:srgbClr val="FFFFFF"/>
              </a:highlight>
              <a:latin typeface="Nunito"/>
              <a:ea typeface="Nunito"/>
              <a:cs typeface="Nunito"/>
              <a:sym typeface="Nunito"/>
            </a:endParaRPr>
          </a:p>
          <a:p>
            <a:pPr indent="0" lvl="0" marL="457200" rtl="0" algn="l">
              <a:lnSpc>
                <a:spcPct val="158000"/>
              </a:lnSpc>
              <a:spcBef>
                <a:spcPts val="1800"/>
              </a:spcBef>
              <a:spcAft>
                <a:spcPts val="1800"/>
              </a:spcAft>
              <a:buNone/>
            </a:pPr>
            <a:r>
              <a:t/>
            </a:r>
            <a:endParaRPr b="1" sz="2950">
              <a:solidFill>
                <a:srgbClr val="273239"/>
              </a:solidFill>
              <a:highlight>
                <a:srgbClr val="FFFFFF"/>
              </a:highlight>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sp>
        <p:nvSpPr>
          <p:cNvPr id="176" name="Google Shape;176;g366d443c648_0_154"/>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77" name="Google Shape;177;g366d443c648_0_154"/>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78" name="Google Shape;178;g366d443c648_0_154"/>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g366d443c648_0_154"/>
          <p:cNvSpPr txBox="1"/>
          <p:nvPr/>
        </p:nvSpPr>
        <p:spPr>
          <a:xfrm>
            <a:off x="5032675"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180" name="Google Shape;180;g366d443c648_0_154"/>
          <p:cNvSpPr txBox="1"/>
          <p:nvPr/>
        </p:nvSpPr>
        <p:spPr>
          <a:xfrm>
            <a:off x="482500" y="783100"/>
            <a:ext cx="8163300" cy="3208500"/>
          </a:xfrm>
          <a:prstGeom prst="rect">
            <a:avLst/>
          </a:prstGeom>
          <a:noFill/>
          <a:ln>
            <a:noFill/>
          </a:ln>
        </p:spPr>
        <p:txBody>
          <a:bodyPr anchorCtr="0" anchor="t" bIns="91425" lIns="91425" spcFirstLastPara="1" rIns="91425" wrap="square" tIns="91425">
            <a:spAutoFit/>
          </a:bodyPr>
          <a:lstStyle/>
          <a:p>
            <a:pPr indent="-384175" lvl="0" marL="685800" rtl="0" algn="l">
              <a:lnSpc>
                <a:spcPct val="158000"/>
              </a:lnSpc>
              <a:spcBef>
                <a:spcPts val="0"/>
              </a:spcBef>
              <a:spcAft>
                <a:spcPts val="0"/>
              </a:spcAft>
              <a:buClr>
                <a:srgbClr val="273239"/>
              </a:buClr>
              <a:buSzPts val="2450"/>
              <a:buFont typeface="Nunito"/>
              <a:buChar char="●"/>
            </a:pPr>
            <a:r>
              <a:rPr b="1" lang="en-US" sz="2450">
                <a:solidFill>
                  <a:srgbClr val="273239"/>
                </a:solidFill>
                <a:highlight>
                  <a:srgbClr val="FFFFFF"/>
                </a:highlight>
                <a:latin typeface="Nunito"/>
                <a:ea typeface="Nunito"/>
                <a:cs typeface="Nunito"/>
                <a:sym typeface="Nunito"/>
              </a:rPr>
              <a:t>Pooling layer</a:t>
            </a:r>
            <a:r>
              <a:rPr b="1" lang="en-US" sz="2450">
                <a:solidFill>
                  <a:srgbClr val="273239"/>
                </a:solidFill>
                <a:highlight>
                  <a:srgbClr val="FFFFFF"/>
                </a:highlight>
                <a:latin typeface="Nunito"/>
                <a:ea typeface="Nunito"/>
                <a:cs typeface="Nunito"/>
                <a:sym typeface="Nunito"/>
              </a:rPr>
              <a:t>: </a:t>
            </a:r>
            <a:endParaRPr b="1" sz="2450">
              <a:solidFill>
                <a:srgbClr val="273239"/>
              </a:solidFill>
              <a:highlight>
                <a:srgbClr val="FFFFFF"/>
              </a:highlight>
              <a:latin typeface="Nunito"/>
              <a:ea typeface="Nunito"/>
              <a:cs typeface="Nunito"/>
              <a:sym typeface="Nunito"/>
            </a:endParaRPr>
          </a:p>
          <a:p>
            <a:pPr indent="0" lvl="0" marL="457200" rtl="0" algn="l">
              <a:lnSpc>
                <a:spcPct val="158000"/>
              </a:lnSpc>
              <a:spcBef>
                <a:spcPts val="1800"/>
              </a:spcBef>
              <a:spcAft>
                <a:spcPts val="1800"/>
              </a:spcAft>
              <a:buNone/>
            </a:pPr>
            <a:r>
              <a:rPr lang="en-US" sz="1950">
                <a:solidFill>
                  <a:srgbClr val="273239"/>
                </a:solidFill>
                <a:highlight>
                  <a:srgbClr val="FFFFFF"/>
                </a:highlight>
                <a:latin typeface="Nunito"/>
                <a:ea typeface="Nunito"/>
                <a:cs typeface="Nunito"/>
                <a:sym typeface="Nunito"/>
              </a:rPr>
              <a:t>This layer is periodically inserted in the covnets and its main function is to reduce the size of volume which makes the computation fast reduces memory and also prevents overfitting. Two common types of pooling layers are </a:t>
            </a:r>
            <a:r>
              <a:rPr b="1" lang="en-US" sz="1950">
                <a:solidFill>
                  <a:srgbClr val="273239"/>
                </a:solidFill>
                <a:highlight>
                  <a:srgbClr val="FFFFFF"/>
                </a:highlight>
                <a:latin typeface="Nunito"/>
                <a:ea typeface="Nunito"/>
                <a:cs typeface="Nunito"/>
                <a:sym typeface="Nunito"/>
              </a:rPr>
              <a:t>max pooling</a:t>
            </a:r>
            <a:r>
              <a:rPr lang="en-US" sz="1950">
                <a:solidFill>
                  <a:srgbClr val="273239"/>
                </a:solidFill>
                <a:highlight>
                  <a:srgbClr val="FFFFFF"/>
                </a:highlight>
                <a:latin typeface="Nunito"/>
                <a:ea typeface="Nunito"/>
                <a:cs typeface="Nunito"/>
                <a:sym typeface="Nunito"/>
              </a:rPr>
              <a:t> and </a:t>
            </a:r>
            <a:r>
              <a:rPr b="1" lang="en-US" sz="1950">
                <a:solidFill>
                  <a:srgbClr val="273239"/>
                </a:solidFill>
                <a:highlight>
                  <a:srgbClr val="FFFFFF"/>
                </a:highlight>
                <a:latin typeface="Nunito"/>
                <a:ea typeface="Nunito"/>
                <a:cs typeface="Nunito"/>
                <a:sym typeface="Nunito"/>
              </a:rPr>
              <a:t>average pooling</a:t>
            </a:r>
            <a:r>
              <a:rPr lang="en-US" sz="1950">
                <a:solidFill>
                  <a:srgbClr val="273239"/>
                </a:solidFill>
                <a:highlight>
                  <a:srgbClr val="FFFFFF"/>
                </a:highlight>
                <a:latin typeface="Nunito"/>
                <a:ea typeface="Nunito"/>
                <a:cs typeface="Nunito"/>
                <a:sym typeface="Nunito"/>
              </a:rPr>
              <a:t>. </a:t>
            </a:r>
            <a:endParaRPr sz="2450">
              <a:solidFill>
                <a:srgbClr val="273239"/>
              </a:solidFill>
              <a:highlight>
                <a:srgbClr val="FFFFFF"/>
              </a:highlight>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4" name="Shape 184"/>
        <p:cNvGrpSpPr/>
        <p:nvPr/>
      </p:nvGrpSpPr>
      <p:grpSpPr>
        <a:xfrm>
          <a:off x="0" y="0"/>
          <a:ext cx="0" cy="0"/>
          <a:chOff x="0" y="0"/>
          <a:chExt cx="0" cy="0"/>
        </a:xfrm>
      </p:grpSpPr>
      <p:sp>
        <p:nvSpPr>
          <p:cNvPr id="185" name="Google Shape;185;g366d443c648_0_163"/>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86" name="Google Shape;186;g366d443c648_0_163"/>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87" name="Google Shape;187;g366d443c648_0_163"/>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g366d443c648_0_163"/>
          <p:cNvSpPr txBox="1"/>
          <p:nvPr/>
        </p:nvSpPr>
        <p:spPr>
          <a:xfrm>
            <a:off x="5032675"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189" name="Google Shape;189;g366d443c648_0_163"/>
          <p:cNvSpPr txBox="1"/>
          <p:nvPr/>
        </p:nvSpPr>
        <p:spPr>
          <a:xfrm>
            <a:off x="482500" y="783100"/>
            <a:ext cx="8163300" cy="561900"/>
          </a:xfrm>
          <a:prstGeom prst="rect">
            <a:avLst/>
          </a:prstGeom>
          <a:noFill/>
          <a:ln>
            <a:noFill/>
          </a:ln>
        </p:spPr>
        <p:txBody>
          <a:bodyPr anchorCtr="0" anchor="t" bIns="91425" lIns="91425" spcFirstLastPara="1" rIns="91425" wrap="square" tIns="91425">
            <a:spAutoFit/>
          </a:bodyPr>
          <a:lstStyle/>
          <a:p>
            <a:pPr indent="-384175" lvl="0" marL="685800" rtl="0" algn="l">
              <a:lnSpc>
                <a:spcPct val="158000"/>
              </a:lnSpc>
              <a:spcBef>
                <a:spcPts val="0"/>
              </a:spcBef>
              <a:spcAft>
                <a:spcPts val="0"/>
              </a:spcAft>
              <a:buClr>
                <a:srgbClr val="273239"/>
              </a:buClr>
              <a:buSzPts val="2450"/>
              <a:buFont typeface="Nunito"/>
              <a:buChar char="●"/>
            </a:pPr>
            <a:r>
              <a:rPr b="1" lang="en-US" sz="2450">
                <a:solidFill>
                  <a:srgbClr val="273239"/>
                </a:solidFill>
                <a:highlight>
                  <a:srgbClr val="FFFFFF"/>
                </a:highlight>
                <a:latin typeface="Nunito"/>
                <a:ea typeface="Nunito"/>
                <a:cs typeface="Nunito"/>
                <a:sym typeface="Nunito"/>
              </a:rPr>
              <a:t>Pooling layer: </a:t>
            </a:r>
            <a:endParaRPr sz="2450">
              <a:solidFill>
                <a:srgbClr val="273239"/>
              </a:solidFill>
              <a:highlight>
                <a:srgbClr val="FFFFFF"/>
              </a:highlight>
              <a:latin typeface="Nunito"/>
              <a:ea typeface="Nunito"/>
              <a:cs typeface="Nunito"/>
              <a:sym typeface="Nunito"/>
            </a:endParaRPr>
          </a:p>
        </p:txBody>
      </p:sp>
      <p:pic>
        <p:nvPicPr>
          <p:cNvPr id="190" name="Google Shape;190;g366d443c648_0_163"/>
          <p:cNvPicPr preferRelativeResize="0"/>
          <p:nvPr/>
        </p:nvPicPr>
        <p:blipFill>
          <a:blip r:embed="rId5">
            <a:alphaModFix/>
          </a:blip>
          <a:stretch>
            <a:fillRect/>
          </a:stretch>
        </p:blipFill>
        <p:spPr>
          <a:xfrm>
            <a:off x="697598" y="2797345"/>
            <a:ext cx="7541201" cy="2698029"/>
          </a:xfrm>
          <a:prstGeom prst="rect">
            <a:avLst/>
          </a:prstGeom>
          <a:noFill/>
          <a:ln>
            <a:noFill/>
          </a:ln>
        </p:spPr>
      </p:pic>
      <p:sp>
        <p:nvSpPr>
          <p:cNvPr id="191" name="Google Shape;191;g366d443c648_0_163"/>
          <p:cNvSpPr txBox="1"/>
          <p:nvPr/>
        </p:nvSpPr>
        <p:spPr>
          <a:xfrm>
            <a:off x="899525" y="1732625"/>
            <a:ext cx="7894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rgbClr val="FF0000"/>
                </a:solidFill>
                <a:latin typeface="Calibri"/>
                <a:ea typeface="Calibri"/>
                <a:cs typeface="Calibri"/>
                <a:sym typeface="Calibri"/>
              </a:rPr>
              <a:t>Max Pooling</a:t>
            </a:r>
            <a:endParaRPr b="1" sz="3200">
              <a:solidFill>
                <a:srgbClr val="FF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sp>
        <p:nvSpPr>
          <p:cNvPr id="196" name="Google Shape;196;g366d443c648_0_188"/>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197" name="Google Shape;197;g366d443c648_0_188"/>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198" name="Google Shape;198;g366d443c648_0_188"/>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366d443c648_0_188"/>
          <p:cNvSpPr txBox="1"/>
          <p:nvPr/>
        </p:nvSpPr>
        <p:spPr>
          <a:xfrm>
            <a:off x="5032675"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200" name="Google Shape;200;g366d443c648_0_188"/>
          <p:cNvSpPr txBox="1"/>
          <p:nvPr/>
        </p:nvSpPr>
        <p:spPr>
          <a:xfrm>
            <a:off x="482500" y="783100"/>
            <a:ext cx="8163300" cy="561900"/>
          </a:xfrm>
          <a:prstGeom prst="rect">
            <a:avLst/>
          </a:prstGeom>
          <a:noFill/>
          <a:ln>
            <a:noFill/>
          </a:ln>
        </p:spPr>
        <p:txBody>
          <a:bodyPr anchorCtr="0" anchor="t" bIns="91425" lIns="91425" spcFirstLastPara="1" rIns="91425" wrap="square" tIns="91425">
            <a:spAutoFit/>
          </a:bodyPr>
          <a:lstStyle/>
          <a:p>
            <a:pPr indent="-384175" lvl="0" marL="685800" rtl="0" algn="l">
              <a:lnSpc>
                <a:spcPct val="158000"/>
              </a:lnSpc>
              <a:spcBef>
                <a:spcPts val="0"/>
              </a:spcBef>
              <a:spcAft>
                <a:spcPts val="0"/>
              </a:spcAft>
              <a:buClr>
                <a:srgbClr val="273239"/>
              </a:buClr>
              <a:buSzPts val="2450"/>
              <a:buFont typeface="Nunito"/>
              <a:buChar char="●"/>
            </a:pPr>
            <a:r>
              <a:rPr b="1" lang="en-US" sz="2450">
                <a:solidFill>
                  <a:srgbClr val="273239"/>
                </a:solidFill>
                <a:highlight>
                  <a:srgbClr val="FFFFFF"/>
                </a:highlight>
                <a:latin typeface="Nunito"/>
                <a:ea typeface="Nunito"/>
                <a:cs typeface="Nunito"/>
                <a:sym typeface="Nunito"/>
              </a:rPr>
              <a:t>Pooling layer: </a:t>
            </a:r>
            <a:endParaRPr sz="2450">
              <a:solidFill>
                <a:srgbClr val="273239"/>
              </a:solidFill>
              <a:highlight>
                <a:srgbClr val="FFFFFF"/>
              </a:highlight>
              <a:latin typeface="Nunito"/>
              <a:ea typeface="Nunito"/>
              <a:cs typeface="Nunito"/>
              <a:sym typeface="Nunito"/>
            </a:endParaRPr>
          </a:p>
        </p:txBody>
      </p:sp>
      <p:pic>
        <p:nvPicPr>
          <p:cNvPr id="201" name="Google Shape;201;g366d443c648_0_188"/>
          <p:cNvPicPr preferRelativeResize="0"/>
          <p:nvPr/>
        </p:nvPicPr>
        <p:blipFill>
          <a:blip r:embed="rId5">
            <a:alphaModFix/>
          </a:blip>
          <a:stretch>
            <a:fillRect/>
          </a:stretch>
        </p:blipFill>
        <p:spPr>
          <a:xfrm>
            <a:off x="621038" y="2275523"/>
            <a:ext cx="7886224" cy="3063775"/>
          </a:xfrm>
          <a:prstGeom prst="rect">
            <a:avLst/>
          </a:prstGeom>
          <a:noFill/>
          <a:ln>
            <a:noFill/>
          </a:ln>
        </p:spPr>
      </p:pic>
      <p:sp>
        <p:nvSpPr>
          <p:cNvPr id="202" name="Google Shape;202;g366d443c648_0_188"/>
          <p:cNvSpPr txBox="1"/>
          <p:nvPr/>
        </p:nvSpPr>
        <p:spPr>
          <a:xfrm>
            <a:off x="1083700" y="1471713"/>
            <a:ext cx="7562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rgbClr val="FF0000"/>
                </a:solidFill>
                <a:latin typeface="Calibri"/>
                <a:ea typeface="Calibri"/>
                <a:cs typeface="Calibri"/>
                <a:sym typeface="Calibri"/>
              </a:rPr>
              <a:t>Average Pooling</a:t>
            </a:r>
            <a:endParaRPr b="1" sz="3200">
              <a:solidFill>
                <a:srgbClr val="FF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6" name="Shape 206"/>
        <p:cNvGrpSpPr/>
        <p:nvPr/>
      </p:nvGrpSpPr>
      <p:grpSpPr>
        <a:xfrm>
          <a:off x="0" y="0"/>
          <a:ext cx="0" cy="0"/>
          <a:chOff x="0" y="0"/>
          <a:chExt cx="0" cy="0"/>
        </a:xfrm>
      </p:grpSpPr>
      <p:sp>
        <p:nvSpPr>
          <p:cNvPr id="207" name="Google Shape;207;g366d443c648_0_177"/>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208" name="Google Shape;208;g366d443c648_0_177"/>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209" name="Google Shape;209;g366d443c648_0_177"/>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366d443c648_0_177"/>
          <p:cNvSpPr txBox="1"/>
          <p:nvPr/>
        </p:nvSpPr>
        <p:spPr>
          <a:xfrm>
            <a:off x="5032675"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211" name="Google Shape;211;g366d443c648_0_177"/>
          <p:cNvSpPr txBox="1"/>
          <p:nvPr/>
        </p:nvSpPr>
        <p:spPr>
          <a:xfrm>
            <a:off x="482500" y="783100"/>
            <a:ext cx="8163300" cy="561900"/>
          </a:xfrm>
          <a:prstGeom prst="rect">
            <a:avLst/>
          </a:prstGeom>
          <a:noFill/>
          <a:ln>
            <a:noFill/>
          </a:ln>
        </p:spPr>
        <p:txBody>
          <a:bodyPr anchorCtr="0" anchor="t" bIns="91425" lIns="91425" spcFirstLastPara="1" rIns="91425" wrap="square" tIns="91425">
            <a:spAutoFit/>
          </a:bodyPr>
          <a:lstStyle/>
          <a:p>
            <a:pPr indent="-384175" lvl="0" marL="685800" rtl="0" algn="l">
              <a:lnSpc>
                <a:spcPct val="158000"/>
              </a:lnSpc>
              <a:spcBef>
                <a:spcPts val="0"/>
              </a:spcBef>
              <a:spcAft>
                <a:spcPts val="0"/>
              </a:spcAft>
              <a:buClr>
                <a:srgbClr val="273239"/>
              </a:buClr>
              <a:buSzPts val="2450"/>
              <a:buFont typeface="Nunito"/>
              <a:buChar char="●"/>
            </a:pPr>
            <a:r>
              <a:rPr b="1" lang="en-US" sz="2450">
                <a:solidFill>
                  <a:srgbClr val="273239"/>
                </a:solidFill>
                <a:highlight>
                  <a:srgbClr val="FFFFFF"/>
                </a:highlight>
                <a:latin typeface="Nunito"/>
                <a:ea typeface="Nunito"/>
                <a:cs typeface="Nunito"/>
                <a:sym typeface="Nunito"/>
              </a:rPr>
              <a:t>Pooling layer: </a:t>
            </a:r>
            <a:endParaRPr sz="2450">
              <a:solidFill>
                <a:srgbClr val="273239"/>
              </a:solidFill>
              <a:highlight>
                <a:srgbClr val="FFFFFF"/>
              </a:highlight>
              <a:latin typeface="Nunito"/>
              <a:ea typeface="Nunito"/>
              <a:cs typeface="Nunito"/>
              <a:sym typeface="Nunito"/>
            </a:endParaRPr>
          </a:p>
        </p:txBody>
      </p:sp>
      <p:pic>
        <p:nvPicPr>
          <p:cNvPr id="212" name="Google Shape;212;g366d443c648_0_177"/>
          <p:cNvPicPr preferRelativeResize="0"/>
          <p:nvPr/>
        </p:nvPicPr>
        <p:blipFill>
          <a:blip r:embed="rId5">
            <a:alphaModFix/>
          </a:blip>
          <a:stretch>
            <a:fillRect/>
          </a:stretch>
        </p:blipFill>
        <p:spPr>
          <a:xfrm>
            <a:off x="1231199" y="2689208"/>
            <a:ext cx="5372100" cy="2181225"/>
          </a:xfrm>
          <a:prstGeom prst="rect">
            <a:avLst/>
          </a:prstGeom>
          <a:noFill/>
          <a:ln>
            <a:noFill/>
          </a:ln>
        </p:spPr>
      </p:pic>
      <p:pic>
        <p:nvPicPr>
          <p:cNvPr id="213" name="Google Shape;213;g366d443c648_0_177"/>
          <p:cNvPicPr preferRelativeResize="0"/>
          <p:nvPr/>
        </p:nvPicPr>
        <p:blipFill>
          <a:blip r:embed="rId6">
            <a:alphaModFix/>
          </a:blip>
          <a:stretch>
            <a:fillRect/>
          </a:stretch>
        </p:blipFill>
        <p:spPr>
          <a:xfrm>
            <a:off x="6119599" y="4453308"/>
            <a:ext cx="2290774" cy="16827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7" name="Shape 217"/>
        <p:cNvGrpSpPr/>
        <p:nvPr/>
      </p:nvGrpSpPr>
      <p:grpSpPr>
        <a:xfrm>
          <a:off x="0" y="0"/>
          <a:ext cx="0" cy="0"/>
          <a:chOff x="0" y="0"/>
          <a:chExt cx="0" cy="0"/>
        </a:xfrm>
      </p:grpSpPr>
      <p:sp>
        <p:nvSpPr>
          <p:cNvPr id="218" name="Google Shape;218;g366d443c648_0_210"/>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219" name="Google Shape;219;g366d443c648_0_210"/>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220" name="Google Shape;220;g366d443c648_0_210"/>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366d443c648_0_210"/>
          <p:cNvSpPr txBox="1"/>
          <p:nvPr/>
        </p:nvSpPr>
        <p:spPr>
          <a:xfrm>
            <a:off x="5032675"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222" name="Google Shape;222;g366d443c648_0_210"/>
          <p:cNvSpPr txBox="1"/>
          <p:nvPr/>
        </p:nvSpPr>
        <p:spPr>
          <a:xfrm>
            <a:off x="506225" y="879300"/>
            <a:ext cx="8091900" cy="5844300"/>
          </a:xfrm>
          <a:prstGeom prst="rect">
            <a:avLst/>
          </a:prstGeom>
          <a:noFill/>
          <a:ln>
            <a:noFill/>
          </a:ln>
        </p:spPr>
        <p:txBody>
          <a:bodyPr anchorCtr="0" anchor="t" bIns="91425" lIns="91425" spcFirstLastPara="1" rIns="91425" wrap="square" tIns="91425">
            <a:spAutoFit/>
          </a:bodyPr>
          <a:lstStyle/>
          <a:p>
            <a:pPr indent="-384175" lvl="0" marL="685800" rtl="0" algn="l">
              <a:lnSpc>
                <a:spcPct val="158000"/>
              </a:lnSpc>
              <a:spcBef>
                <a:spcPts val="0"/>
              </a:spcBef>
              <a:spcAft>
                <a:spcPts val="0"/>
              </a:spcAft>
              <a:buClr>
                <a:srgbClr val="273239"/>
              </a:buClr>
              <a:buSzPts val="2450"/>
              <a:buFont typeface="Nunito"/>
              <a:buChar char="●"/>
            </a:pPr>
            <a:r>
              <a:rPr b="1" lang="en-US" sz="2450">
                <a:solidFill>
                  <a:srgbClr val="273239"/>
                </a:solidFill>
                <a:highlight>
                  <a:srgbClr val="FFFFFF"/>
                </a:highlight>
                <a:latin typeface="Nunito"/>
                <a:ea typeface="Nunito"/>
                <a:cs typeface="Nunito"/>
                <a:sym typeface="Nunito"/>
              </a:rPr>
              <a:t>Flattening: </a:t>
            </a:r>
            <a:r>
              <a:rPr lang="en-US" sz="2450">
                <a:solidFill>
                  <a:srgbClr val="273239"/>
                </a:solidFill>
                <a:highlight>
                  <a:srgbClr val="FFFFFF"/>
                </a:highlight>
                <a:latin typeface="Nunito"/>
                <a:ea typeface="Nunito"/>
                <a:cs typeface="Nunito"/>
                <a:sym typeface="Nunito"/>
              </a:rPr>
              <a:t>The resulting feature maps are flattened into a one-dimensional vector after the convolution and pooling layers so they can be passed into a completely linked layer for categorization or regression.</a:t>
            </a:r>
            <a:endParaRPr sz="2450">
              <a:solidFill>
                <a:srgbClr val="273239"/>
              </a:solidFill>
              <a:highlight>
                <a:srgbClr val="FFFFFF"/>
              </a:highlight>
              <a:latin typeface="Nunito"/>
              <a:ea typeface="Nunito"/>
              <a:cs typeface="Nunito"/>
              <a:sym typeface="Nunito"/>
            </a:endParaRPr>
          </a:p>
          <a:p>
            <a:pPr indent="-384175" lvl="0" marL="685800" rtl="0" algn="l">
              <a:lnSpc>
                <a:spcPct val="158000"/>
              </a:lnSpc>
              <a:spcBef>
                <a:spcPts val="0"/>
              </a:spcBef>
              <a:spcAft>
                <a:spcPts val="0"/>
              </a:spcAft>
              <a:buClr>
                <a:srgbClr val="273239"/>
              </a:buClr>
              <a:buSzPts val="2450"/>
              <a:buFont typeface="Nunito"/>
              <a:buChar char="●"/>
            </a:pPr>
            <a:r>
              <a:rPr b="1" lang="en-US" sz="2450">
                <a:solidFill>
                  <a:srgbClr val="273239"/>
                </a:solidFill>
                <a:highlight>
                  <a:srgbClr val="FFFFFF"/>
                </a:highlight>
                <a:latin typeface="Nunito"/>
                <a:ea typeface="Nunito"/>
                <a:cs typeface="Nunito"/>
                <a:sym typeface="Nunito"/>
              </a:rPr>
              <a:t>Fully Connected Layers: </a:t>
            </a:r>
            <a:r>
              <a:rPr lang="en-US" sz="2450">
                <a:solidFill>
                  <a:srgbClr val="273239"/>
                </a:solidFill>
                <a:highlight>
                  <a:srgbClr val="FFFFFF"/>
                </a:highlight>
                <a:latin typeface="Nunito"/>
                <a:ea typeface="Nunito"/>
                <a:cs typeface="Nunito"/>
                <a:sym typeface="Nunito"/>
              </a:rPr>
              <a:t>It takes the input from the previous layer and computes the final classification or regression task.</a:t>
            </a:r>
            <a:endParaRPr sz="24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t/>
            </a:r>
            <a:endParaRPr sz="43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6" name="Shape 226"/>
        <p:cNvGrpSpPr/>
        <p:nvPr/>
      </p:nvGrpSpPr>
      <p:grpSpPr>
        <a:xfrm>
          <a:off x="0" y="0"/>
          <a:ext cx="0" cy="0"/>
          <a:chOff x="0" y="0"/>
          <a:chExt cx="0" cy="0"/>
        </a:xfrm>
      </p:grpSpPr>
      <p:sp>
        <p:nvSpPr>
          <p:cNvPr id="227" name="Google Shape;227;g366d443c648_0_220"/>
          <p:cNvSpPr txBox="1"/>
          <p:nvPr/>
        </p:nvSpPr>
        <p:spPr>
          <a:xfrm rot="-5400000">
            <a:off x="7991700" y="5531233"/>
            <a:ext cx="1947600" cy="3144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FFFFFF"/>
              </a:buClr>
              <a:buSzPts val="2000"/>
              <a:buFont typeface="Arial"/>
              <a:buNone/>
            </a:pPr>
            <a:r>
              <a:rPr b="1" i="0" lang="en-US" sz="1000" u="none" cap="none" strike="noStrike">
                <a:solidFill>
                  <a:srgbClr val="64C3F5"/>
                </a:solidFill>
                <a:latin typeface="Roboto"/>
                <a:ea typeface="Roboto"/>
                <a:cs typeface="Roboto"/>
                <a:sym typeface="Roboto"/>
              </a:rPr>
              <a:t>Welcome</a:t>
            </a:r>
            <a:endParaRPr b="1" i="0" sz="1000" u="none" cap="none" strike="noStrike">
              <a:solidFill>
                <a:srgbClr val="64C3F5"/>
              </a:solidFill>
              <a:latin typeface="Roboto"/>
              <a:ea typeface="Roboto"/>
              <a:cs typeface="Roboto"/>
              <a:sym typeface="Roboto"/>
            </a:endParaRPr>
          </a:p>
        </p:txBody>
      </p:sp>
      <p:pic>
        <p:nvPicPr>
          <p:cNvPr id="228" name="Google Shape;228;g366d443c648_0_220"/>
          <p:cNvPicPr preferRelativeResize="0"/>
          <p:nvPr/>
        </p:nvPicPr>
        <p:blipFill rotWithShape="1">
          <a:blip r:embed="rId4">
            <a:alphaModFix/>
          </a:blip>
          <a:srcRect b="0" l="0" r="0" t="0"/>
          <a:stretch/>
        </p:blipFill>
        <p:spPr>
          <a:xfrm>
            <a:off x="-809150" y="4990633"/>
            <a:ext cx="2599849" cy="2803224"/>
          </a:xfrm>
          <a:prstGeom prst="rect">
            <a:avLst/>
          </a:prstGeom>
          <a:noFill/>
          <a:ln>
            <a:noFill/>
          </a:ln>
        </p:spPr>
      </p:pic>
      <p:sp>
        <p:nvSpPr>
          <p:cNvPr id="229" name="Google Shape;229;g366d443c648_0_220"/>
          <p:cNvSpPr/>
          <p:nvPr/>
        </p:nvSpPr>
        <p:spPr>
          <a:xfrm>
            <a:off x="899525" y="3793833"/>
            <a:ext cx="128700" cy="18531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g366d443c648_0_220"/>
          <p:cNvSpPr txBox="1"/>
          <p:nvPr/>
        </p:nvSpPr>
        <p:spPr>
          <a:xfrm>
            <a:off x="5032675" y="3793833"/>
            <a:ext cx="20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pic>
        <p:nvPicPr>
          <p:cNvPr id="231" name="Google Shape;231;g366d443c648_0_220"/>
          <p:cNvPicPr preferRelativeResize="0"/>
          <p:nvPr/>
        </p:nvPicPr>
        <p:blipFill>
          <a:blip r:embed="rId5">
            <a:alphaModFix/>
          </a:blip>
          <a:stretch>
            <a:fillRect/>
          </a:stretch>
        </p:blipFill>
        <p:spPr>
          <a:xfrm>
            <a:off x="491500" y="1352625"/>
            <a:ext cx="8061601" cy="3820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