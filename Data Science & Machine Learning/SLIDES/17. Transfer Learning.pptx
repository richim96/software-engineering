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embeddedFontLst>
    <p:embeddedFont>
      <p:font typeface="Roboto"/>
      <p:regular r:id="rId14"/>
      <p:bold r:id="rId15"/>
      <p:italic r:id="rId16"/>
      <p:boldItalic r:id="rId17"/>
    </p:embeddedFon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gPzKw6Fqu/S81+8mqewHM95VZj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6d443c648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6d443c6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6d443c648_0_9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66d443c648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70d6dfcaf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670d6dfca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70d6dfcaf_0_1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670d6dfca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70d6dfcaf_0_3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670d6dfcaf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70d6dfcaf_0_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670d6dfca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70d6dfcaf_0_5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670d6dfca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70d6dfcaf_0_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670d6dfcaf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66d443c648_0_8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g366d443c648_0_8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366d443c648_0_84"/>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g366d443c648_0_0"/>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t/>
            </a:r>
            <a:endParaRPr b="1" sz="5600">
              <a:solidFill>
                <a:srgbClr val="2DC5FA"/>
              </a:solidFill>
              <a:highlight>
                <a:srgbClr val="FFFFFF"/>
              </a:highlight>
              <a:latin typeface="Nunito"/>
              <a:ea typeface="Nunito"/>
              <a:cs typeface="Nunito"/>
              <a:sym typeface="Nunito"/>
            </a:endParaRPr>
          </a:p>
          <a:p>
            <a:pPr indent="0" lvl="0" marL="0" marR="0" rtl="0" algn="l">
              <a:lnSpc>
                <a:spcPct val="150000"/>
              </a:lnSpc>
              <a:spcBef>
                <a:spcPts val="0"/>
              </a:spcBef>
              <a:spcAft>
                <a:spcPts val="0"/>
              </a:spcAft>
              <a:buClr>
                <a:srgbClr val="000000"/>
              </a:buClr>
              <a:buSzPts val="1100"/>
              <a:buFont typeface="Arial"/>
              <a:buNone/>
            </a:pPr>
            <a:r>
              <a:rPr b="1" lang="en-US" sz="5600">
                <a:solidFill>
                  <a:srgbClr val="2DC5FA"/>
                </a:solidFill>
                <a:highlight>
                  <a:srgbClr val="FFFFFF"/>
                </a:highlight>
                <a:latin typeface="Nunito"/>
                <a:ea typeface="Nunito"/>
                <a:cs typeface="Nunito"/>
                <a:sym typeface="Nunito"/>
              </a:rPr>
              <a:t>Transfer Learning</a:t>
            </a:r>
            <a:endParaRPr b="1" i="0" sz="69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1000"/>
              <a:buFont typeface="Arial"/>
              <a:buNone/>
            </a:pPr>
            <a:r>
              <a:t/>
            </a:r>
            <a:endParaRPr b="1" i="0" sz="6900" u="none" cap="none" strike="noStrike">
              <a:solidFill>
                <a:srgbClr val="2DC5FA"/>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t/>
            </a:r>
            <a:endParaRPr b="1" i="0" sz="69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900"/>
              <a:buFont typeface="Arial"/>
              <a:buNone/>
            </a:pPr>
            <a:r>
              <a:t/>
            </a:r>
            <a:endParaRPr b="1" i="0" sz="6900" u="none" cap="none" strike="noStrike">
              <a:solidFill>
                <a:srgbClr val="2DC5FA"/>
              </a:solidFill>
              <a:latin typeface="Roboto"/>
              <a:ea typeface="Roboto"/>
              <a:cs typeface="Roboto"/>
              <a:sym typeface="Roboto"/>
            </a:endParaRPr>
          </a:p>
        </p:txBody>
      </p:sp>
      <p:sp>
        <p:nvSpPr>
          <p:cNvPr id="89" name="Google Shape;89;g366d443c648_0_0"/>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90" name="Google Shape;90;g366d443c648_0_0"/>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g366d443c648_0_97"/>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96" name="Google Shape;96;g366d443c648_0_97"/>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97" name="Google Shape;97;g366d443c648_0_97"/>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98" name="Google Shape;98;g366d443c648_0_9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3500">
                <a:solidFill>
                  <a:srgbClr val="273239"/>
                </a:solidFill>
                <a:highlight>
                  <a:srgbClr val="FFFFFF"/>
                </a:highlight>
                <a:latin typeface="Nunito"/>
                <a:ea typeface="Nunito"/>
                <a:cs typeface="Nunito"/>
                <a:sym typeface="Nunito"/>
              </a:rPr>
              <a:t>What is Transfer Learning?</a:t>
            </a:r>
            <a:endParaRPr b="1" sz="3500">
              <a:latin typeface="Arial"/>
              <a:ea typeface="Arial"/>
              <a:cs typeface="Arial"/>
              <a:sym typeface="Arial"/>
            </a:endParaRPr>
          </a:p>
        </p:txBody>
      </p:sp>
      <p:sp>
        <p:nvSpPr>
          <p:cNvPr id="99" name="Google Shape;99;g366d443c648_0_9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b="1" sz="2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0"/>
              </a:spcAft>
              <a:buNone/>
            </a:pPr>
            <a:r>
              <a:rPr lang="en-US" sz="2350">
                <a:solidFill>
                  <a:srgbClr val="273239"/>
                </a:solidFill>
                <a:highlight>
                  <a:srgbClr val="FFFFFF"/>
                </a:highlight>
                <a:latin typeface="Nunito"/>
                <a:ea typeface="Nunito"/>
                <a:cs typeface="Nunito"/>
                <a:sym typeface="Nunito"/>
              </a:rPr>
              <a:t>Transfer learning involves taking a pre-trained model, typically trained on a large and diverse dataset like ImageNet, and adapting it for a specific task. This method is particularly useful when the target dataset is smaller or lacks the diversity needed to train a high-performance model from scratch.</a:t>
            </a:r>
            <a:endParaRPr sz="2350">
              <a:solidFill>
                <a:srgbClr val="273239"/>
              </a:solidFill>
              <a:highlight>
                <a:srgbClr val="FFFFFF"/>
              </a:highlight>
              <a:latin typeface="Nunito"/>
              <a:ea typeface="Nunito"/>
              <a:cs typeface="Nunito"/>
              <a:sym typeface="Nunito"/>
            </a:endParaRPr>
          </a:p>
          <a:p>
            <a:pPr indent="0" lvl="0" marL="457200" rtl="0" algn="l">
              <a:lnSpc>
                <a:spcPct val="115000"/>
              </a:lnSpc>
              <a:spcBef>
                <a:spcPts val="1200"/>
              </a:spcBef>
              <a:spcAft>
                <a:spcPts val="0"/>
              </a:spcAft>
              <a:buNone/>
            </a:pPr>
            <a:r>
              <a:t/>
            </a:r>
            <a:endParaRPr sz="3100">
              <a:latin typeface="Arial"/>
              <a:ea typeface="Arial"/>
              <a:cs typeface="Arial"/>
              <a:sym typeface="Arial"/>
            </a:endParaRPr>
          </a:p>
          <a:p>
            <a:pPr indent="0" lvl="0" marL="0" rtl="0" algn="l">
              <a:spcBef>
                <a:spcPts val="1200"/>
              </a:spcBef>
              <a:spcAft>
                <a:spcPts val="0"/>
              </a:spcAft>
              <a:buNone/>
            </a:pPr>
            <a:r>
              <a:t/>
            </a:r>
            <a:endParaRPr sz="5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g3670d6dfcaf_0_21"/>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05" name="Google Shape;105;g3670d6dfcaf_0_21"/>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06" name="Google Shape;106;g3670d6dfcaf_0_21"/>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07" name="Google Shape;107;g3670d6dfcaf_0_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3500">
                <a:solidFill>
                  <a:srgbClr val="273239"/>
                </a:solidFill>
                <a:highlight>
                  <a:srgbClr val="FFFFFF"/>
                </a:highlight>
                <a:latin typeface="Nunito"/>
                <a:ea typeface="Nunito"/>
                <a:cs typeface="Nunito"/>
                <a:sym typeface="Nunito"/>
              </a:rPr>
              <a:t>What is Transfer Learning?</a:t>
            </a:r>
            <a:endParaRPr b="1" sz="3500">
              <a:latin typeface="Arial"/>
              <a:ea typeface="Arial"/>
              <a:cs typeface="Arial"/>
              <a:sym typeface="Arial"/>
            </a:endParaRPr>
          </a:p>
        </p:txBody>
      </p:sp>
      <p:sp>
        <p:nvSpPr>
          <p:cNvPr id="108" name="Google Shape;108;g3670d6dfcaf_0_2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b="1" sz="2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0"/>
              </a:spcAft>
              <a:buNone/>
            </a:pPr>
            <a:r>
              <a:t/>
            </a:r>
            <a:endParaRPr sz="2350">
              <a:solidFill>
                <a:srgbClr val="273239"/>
              </a:solidFill>
              <a:highlight>
                <a:srgbClr val="FFFFFF"/>
              </a:highlight>
              <a:latin typeface="Nunito"/>
              <a:ea typeface="Nunito"/>
              <a:cs typeface="Nunito"/>
              <a:sym typeface="Nunito"/>
            </a:endParaRPr>
          </a:p>
          <a:p>
            <a:pPr indent="0" lvl="0" marL="457200" rtl="0" algn="l">
              <a:lnSpc>
                <a:spcPct val="115000"/>
              </a:lnSpc>
              <a:spcBef>
                <a:spcPts val="1200"/>
              </a:spcBef>
              <a:spcAft>
                <a:spcPts val="0"/>
              </a:spcAft>
              <a:buNone/>
            </a:pPr>
            <a:r>
              <a:t/>
            </a:r>
            <a:endParaRPr sz="3100">
              <a:latin typeface="Arial"/>
              <a:ea typeface="Arial"/>
              <a:cs typeface="Arial"/>
              <a:sym typeface="Arial"/>
            </a:endParaRPr>
          </a:p>
          <a:p>
            <a:pPr indent="0" lvl="0" marL="0" rtl="0" algn="l">
              <a:spcBef>
                <a:spcPts val="1200"/>
              </a:spcBef>
              <a:spcAft>
                <a:spcPts val="0"/>
              </a:spcAft>
              <a:buNone/>
            </a:pPr>
            <a:r>
              <a:t/>
            </a:r>
            <a:endParaRPr sz="5200"/>
          </a:p>
        </p:txBody>
      </p:sp>
      <p:pic>
        <p:nvPicPr>
          <p:cNvPr id="109" name="Google Shape;109;g3670d6dfcaf_0_21"/>
          <p:cNvPicPr preferRelativeResize="0"/>
          <p:nvPr/>
        </p:nvPicPr>
        <p:blipFill>
          <a:blip r:embed="rId5">
            <a:alphaModFix/>
          </a:blip>
          <a:stretch>
            <a:fillRect/>
          </a:stretch>
        </p:blipFill>
        <p:spPr>
          <a:xfrm>
            <a:off x="564600" y="1417650"/>
            <a:ext cx="8229600" cy="4526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g3670d6dfcaf_0_11"/>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15" name="Google Shape;115;g3670d6dfcaf_0_11"/>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16" name="Google Shape;116;g3670d6dfcaf_0_11"/>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17" name="Google Shape;117;g3670d6dfcaf_0_1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300">
                <a:solidFill>
                  <a:srgbClr val="273239"/>
                </a:solidFill>
                <a:highlight>
                  <a:srgbClr val="FFFFFF"/>
                </a:highlight>
                <a:latin typeface="Nunito"/>
                <a:ea typeface="Nunito"/>
                <a:cs typeface="Nunito"/>
                <a:sym typeface="Nunito"/>
              </a:rPr>
              <a:t>Key Concepts in Transfer Learning</a:t>
            </a:r>
            <a:endParaRPr b="1" sz="4000">
              <a:solidFill>
                <a:srgbClr val="273239"/>
              </a:solidFill>
              <a:highlight>
                <a:srgbClr val="FFFFFF"/>
              </a:highlight>
              <a:latin typeface="Nunito"/>
              <a:ea typeface="Nunito"/>
              <a:cs typeface="Nunito"/>
              <a:sym typeface="Nunito"/>
            </a:endParaRPr>
          </a:p>
        </p:txBody>
      </p:sp>
      <p:sp>
        <p:nvSpPr>
          <p:cNvPr id="118" name="Google Shape;118;g3670d6dfcaf_0_1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6075" lvl="0" marL="685800" rtl="0" algn="l">
              <a:lnSpc>
                <a:spcPct val="158000"/>
              </a:lnSpc>
              <a:spcBef>
                <a:spcPts val="0"/>
              </a:spcBef>
              <a:spcAft>
                <a:spcPts val="0"/>
              </a:spcAft>
              <a:buClr>
                <a:srgbClr val="273239"/>
              </a:buClr>
              <a:buSzPts val="1850"/>
              <a:buFont typeface="Nunito"/>
              <a:buAutoNum type="arabicPeriod"/>
            </a:pPr>
            <a:r>
              <a:rPr b="1" lang="en-US" sz="1850">
                <a:solidFill>
                  <a:srgbClr val="273239"/>
                </a:solidFill>
                <a:highlight>
                  <a:srgbClr val="FFFFFF"/>
                </a:highlight>
                <a:latin typeface="Nunito"/>
                <a:ea typeface="Nunito"/>
                <a:cs typeface="Nunito"/>
                <a:sym typeface="Nunito"/>
              </a:rPr>
              <a:t>Pre-trained Models</a:t>
            </a:r>
            <a:r>
              <a:rPr lang="en-US" sz="1850">
                <a:solidFill>
                  <a:srgbClr val="273239"/>
                </a:solidFill>
                <a:highlight>
                  <a:srgbClr val="FFFFFF"/>
                </a:highlight>
                <a:latin typeface="Nunito"/>
                <a:ea typeface="Nunito"/>
                <a:cs typeface="Nunito"/>
                <a:sym typeface="Nunito"/>
              </a:rPr>
              <a:t>: Models that have been previously trained on large datasets, such as VGG, ResNet, Inception, and DenseNet, have learned rich feature representations.</a:t>
            </a:r>
            <a:endParaRPr sz="1850">
              <a:solidFill>
                <a:srgbClr val="273239"/>
              </a:solidFill>
              <a:highlight>
                <a:srgbClr val="FFFFFF"/>
              </a:highlight>
              <a:latin typeface="Nunito"/>
              <a:ea typeface="Nunito"/>
              <a:cs typeface="Nunito"/>
              <a:sym typeface="Nunito"/>
            </a:endParaRPr>
          </a:p>
          <a:p>
            <a:pPr indent="-346075" lvl="0" marL="685800" rtl="0" algn="l">
              <a:lnSpc>
                <a:spcPct val="158000"/>
              </a:lnSpc>
              <a:spcBef>
                <a:spcPts val="0"/>
              </a:spcBef>
              <a:spcAft>
                <a:spcPts val="0"/>
              </a:spcAft>
              <a:buClr>
                <a:srgbClr val="273239"/>
              </a:buClr>
              <a:buSzPts val="1850"/>
              <a:buFont typeface="Nunito"/>
              <a:buAutoNum type="arabicPeriod"/>
            </a:pPr>
            <a:r>
              <a:rPr b="1" lang="en-US" sz="1850">
                <a:solidFill>
                  <a:srgbClr val="273239"/>
                </a:solidFill>
                <a:highlight>
                  <a:srgbClr val="FFFFFF"/>
                </a:highlight>
                <a:latin typeface="Nunito"/>
                <a:ea typeface="Nunito"/>
                <a:cs typeface="Nunito"/>
                <a:sym typeface="Nunito"/>
              </a:rPr>
              <a:t>Feature Extraction</a:t>
            </a:r>
            <a:r>
              <a:rPr lang="en-US" sz="1850">
                <a:solidFill>
                  <a:srgbClr val="273239"/>
                </a:solidFill>
                <a:highlight>
                  <a:srgbClr val="FFFFFF"/>
                </a:highlight>
                <a:latin typeface="Nunito"/>
                <a:ea typeface="Nunito"/>
                <a:cs typeface="Nunito"/>
                <a:sym typeface="Nunito"/>
              </a:rPr>
              <a:t>: Using the pre-trained model as a fixed feature extractor. The model's earlier layers, which capture general features, are retained, while the final layers are replaced with new ones suitable for the target task.</a:t>
            </a:r>
            <a:endParaRPr sz="1850">
              <a:solidFill>
                <a:srgbClr val="273239"/>
              </a:solidFill>
              <a:highlight>
                <a:srgbClr val="FFFFFF"/>
              </a:highlight>
              <a:latin typeface="Nunito"/>
              <a:ea typeface="Nunito"/>
              <a:cs typeface="Nunito"/>
              <a:sym typeface="Nunito"/>
            </a:endParaRPr>
          </a:p>
          <a:p>
            <a:pPr indent="-346075" lvl="0" marL="685800" rtl="0" algn="l">
              <a:lnSpc>
                <a:spcPct val="158000"/>
              </a:lnSpc>
              <a:spcBef>
                <a:spcPts val="0"/>
              </a:spcBef>
              <a:spcAft>
                <a:spcPts val="0"/>
              </a:spcAft>
              <a:buClr>
                <a:srgbClr val="273239"/>
              </a:buClr>
              <a:buSzPts val="1850"/>
              <a:buFont typeface="Nunito"/>
              <a:buAutoNum type="arabicPeriod"/>
            </a:pPr>
            <a:r>
              <a:rPr b="1" lang="en-US" sz="1850">
                <a:solidFill>
                  <a:srgbClr val="273239"/>
                </a:solidFill>
                <a:highlight>
                  <a:srgbClr val="FFFFFF"/>
                </a:highlight>
                <a:latin typeface="Nunito"/>
                <a:ea typeface="Nunito"/>
                <a:cs typeface="Nunito"/>
                <a:sym typeface="Nunito"/>
              </a:rPr>
              <a:t>Fine-Tuning</a:t>
            </a:r>
            <a:r>
              <a:rPr lang="en-US" sz="1850">
                <a:solidFill>
                  <a:srgbClr val="273239"/>
                </a:solidFill>
                <a:highlight>
                  <a:srgbClr val="FFFFFF"/>
                </a:highlight>
                <a:latin typeface="Nunito"/>
                <a:ea typeface="Nunito"/>
                <a:cs typeface="Nunito"/>
                <a:sym typeface="Nunito"/>
              </a:rPr>
              <a:t>: Adjusting the weights of the pre-trained model's layers along with the new layers. Fine-tuning can be done selectively, where only certain layers are updated to adapt the model to the new task.</a:t>
            </a:r>
            <a:endParaRPr b="1" sz="3300">
              <a:solidFill>
                <a:srgbClr val="273239"/>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g3670d6dfcaf_0_39"/>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24" name="Google Shape;124;g3670d6dfcaf_0_39"/>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25" name="Google Shape;125;g3670d6dfcaf_0_39"/>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26" name="Google Shape;126;g3670d6dfcaf_0_3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300">
                <a:solidFill>
                  <a:srgbClr val="273239"/>
                </a:solidFill>
                <a:highlight>
                  <a:srgbClr val="FFFFFF"/>
                </a:highlight>
                <a:latin typeface="Nunito"/>
                <a:ea typeface="Nunito"/>
                <a:cs typeface="Nunito"/>
                <a:sym typeface="Nunito"/>
              </a:rPr>
              <a:t>Imagenet</a:t>
            </a:r>
            <a:endParaRPr b="1" sz="4000">
              <a:solidFill>
                <a:srgbClr val="273239"/>
              </a:solidFill>
              <a:highlight>
                <a:srgbClr val="FFFFFF"/>
              </a:highlight>
              <a:latin typeface="Nunito"/>
              <a:ea typeface="Nunito"/>
              <a:cs typeface="Nunito"/>
              <a:sym typeface="Nunito"/>
            </a:endParaRPr>
          </a:p>
        </p:txBody>
      </p:sp>
      <p:sp>
        <p:nvSpPr>
          <p:cNvPr id="127" name="Google Shape;127;g3670d6dfcaf_0_3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lnSpc>
                <a:spcPct val="158000"/>
              </a:lnSpc>
              <a:spcBef>
                <a:spcPts val="0"/>
              </a:spcBef>
              <a:spcAft>
                <a:spcPts val="0"/>
              </a:spcAft>
              <a:buSzPts val="1800"/>
              <a:buFont typeface="Arial"/>
              <a:buChar char="-"/>
            </a:pPr>
            <a:r>
              <a:rPr b="1" lang="en-US" sz="1800">
                <a:latin typeface="Arial"/>
                <a:ea typeface="Arial"/>
                <a:cs typeface="Arial"/>
                <a:sym typeface="Arial"/>
              </a:rPr>
              <a:t>ImageNet</a:t>
            </a:r>
            <a:r>
              <a:rPr lang="en-US" sz="1800">
                <a:latin typeface="Arial"/>
                <a:ea typeface="Arial"/>
                <a:cs typeface="Arial"/>
                <a:sym typeface="Arial"/>
              </a:rPr>
              <a:t> is a large, widely-used dataset in the field of computer vision, especially for training and benchmarking deep learning m</a:t>
            </a:r>
            <a:r>
              <a:rPr lang="en-US" sz="1800">
                <a:latin typeface="Arial"/>
                <a:ea typeface="Arial"/>
                <a:cs typeface="Arial"/>
                <a:sym typeface="Arial"/>
              </a:rPr>
              <a:t>odels</a:t>
            </a:r>
            <a:endParaRPr sz="1800">
              <a:latin typeface="Arial"/>
              <a:ea typeface="Arial"/>
              <a:cs typeface="Arial"/>
              <a:sym typeface="Arial"/>
            </a:endParaRPr>
          </a:p>
          <a:p>
            <a:pPr indent="-342900" lvl="0" marL="457200" rtl="0" algn="l">
              <a:lnSpc>
                <a:spcPct val="158000"/>
              </a:lnSpc>
              <a:spcBef>
                <a:spcPts val="0"/>
              </a:spcBef>
              <a:spcAft>
                <a:spcPts val="0"/>
              </a:spcAft>
              <a:buSzPts val="1800"/>
              <a:buChar char="-"/>
            </a:pPr>
            <a:r>
              <a:rPr b="1" lang="en-US" sz="1800">
                <a:latin typeface="Arial"/>
                <a:ea typeface="Arial"/>
                <a:cs typeface="Arial"/>
                <a:sym typeface="Arial"/>
              </a:rPr>
              <a:t>ImageNet</a:t>
            </a:r>
            <a:r>
              <a:rPr lang="en-US" sz="1800">
                <a:latin typeface="Arial"/>
                <a:ea typeface="Arial"/>
                <a:cs typeface="Arial"/>
                <a:sym typeface="Arial"/>
              </a:rPr>
              <a:t> is a </a:t>
            </a:r>
            <a:r>
              <a:rPr b="1" lang="en-US" sz="1800">
                <a:latin typeface="Arial"/>
                <a:ea typeface="Arial"/>
                <a:cs typeface="Arial"/>
                <a:sym typeface="Arial"/>
              </a:rPr>
              <a:t>massive collection of labeled images</a:t>
            </a:r>
            <a:r>
              <a:rPr lang="en-US" sz="1800">
                <a:latin typeface="Arial"/>
                <a:ea typeface="Arial"/>
                <a:cs typeface="Arial"/>
                <a:sym typeface="Arial"/>
              </a:rPr>
              <a:t> designed for visual object recognition research.</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58000"/>
              </a:lnSpc>
              <a:spcBef>
                <a:spcPts val="0"/>
              </a:spcBef>
              <a:spcAft>
                <a:spcPts val="0"/>
              </a:spcAft>
              <a:buSzPts val="1800"/>
              <a:buChar char="-"/>
            </a:pPr>
            <a:r>
              <a:rPr lang="en-US" sz="1800">
                <a:latin typeface="Arial"/>
                <a:ea typeface="Arial"/>
                <a:cs typeface="Arial"/>
                <a:sym typeface="Arial"/>
              </a:rPr>
              <a:t>It contains </a:t>
            </a:r>
            <a:r>
              <a:rPr b="1" lang="en-US" sz="1800">
                <a:latin typeface="Arial"/>
                <a:ea typeface="Arial"/>
                <a:cs typeface="Arial"/>
                <a:sym typeface="Arial"/>
              </a:rPr>
              <a:t>over 14 million images</a:t>
            </a:r>
            <a:r>
              <a:rPr lang="en-US" sz="1800">
                <a:latin typeface="Arial"/>
                <a:ea typeface="Arial"/>
                <a:cs typeface="Arial"/>
                <a:sym typeface="Arial"/>
              </a:rPr>
              <a:t>, each labeled with one or more categories.</a:t>
            </a:r>
            <a:endParaRPr sz="1800">
              <a:latin typeface="Arial"/>
              <a:ea typeface="Arial"/>
              <a:cs typeface="Arial"/>
              <a:sym typeface="Arial"/>
            </a:endParaRPr>
          </a:p>
          <a:p>
            <a:pPr indent="-342900" lvl="0" marL="457200" rtl="0" algn="l">
              <a:lnSpc>
                <a:spcPct val="158000"/>
              </a:lnSpc>
              <a:spcBef>
                <a:spcPts val="0"/>
              </a:spcBef>
              <a:spcAft>
                <a:spcPts val="0"/>
              </a:spcAft>
              <a:buSzPts val="1800"/>
              <a:buFont typeface="Arial"/>
              <a:buChar char="-"/>
            </a:pPr>
            <a:r>
              <a:rPr lang="en-US" sz="1800">
                <a:latin typeface="Arial"/>
                <a:ea typeface="Arial"/>
                <a:cs typeface="Arial"/>
                <a:sym typeface="Arial"/>
              </a:rPr>
              <a:t>ImageNet helped revolutionize deep learning in vision</a:t>
            </a:r>
            <a:endParaRPr sz="1800">
              <a:latin typeface="Arial"/>
              <a:ea typeface="Arial"/>
              <a:cs typeface="Arial"/>
              <a:sym typeface="Arial"/>
            </a:endParaRPr>
          </a:p>
          <a:p>
            <a:pPr indent="-361950" lvl="0" marL="457200" rtl="0" algn="l">
              <a:lnSpc>
                <a:spcPct val="158000"/>
              </a:lnSpc>
              <a:spcBef>
                <a:spcPts val="0"/>
              </a:spcBef>
              <a:spcAft>
                <a:spcPts val="0"/>
              </a:spcAft>
              <a:buSzPts val="2100"/>
              <a:buFont typeface="Arial"/>
              <a:buChar char="-"/>
            </a:pPr>
            <a:r>
              <a:rPr lang="en-US" sz="1400">
                <a:latin typeface="Arial"/>
                <a:ea typeface="Arial"/>
                <a:cs typeface="Arial"/>
                <a:sym typeface="Arial"/>
              </a:rPr>
              <a:t>Since then, models like </a:t>
            </a:r>
            <a:r>
              <a:rPr b="1" lang="en-US" sz="1400">
                <a:latin typeface="Arial"/>
                <a:ea typeface="Arial"/>
                <a:cs typeface="Arial"/>
                <a:sym typeface="Arial"/>
              </a:rPr>
              <a:t>VGG, ResNet, Inception, MobileNet, EfficientNet</a:t>
            </a:r>
            <a:r>
              <a:rPr lang="en-US" sz="1400">
                <a:latin typeface="Arial"/>
                <a:ea typeface="Arial"/>
                <a:cs typeface="Arial"/>
                <a:sym typeface="Arial"/>
              </a:rPr>
              <a:t>, etc., have been pretrained on ImageNet.</a:t>
            </a:r>
            <a:endParaRPr sz="21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g3670d6dfcaf_0_2"/>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33" name="Google Shape;133;g3670d6dfcaf_0_2"/>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34" name="Google Shape;134;g3670d6dfcaf_0_2"/>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35" name="Google Shape;135;g3670d6dfcaf_0_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300">
                <a:solidFill>
                  <a:srgbClr val="273239"/>
                </a:solidFill>
                <a:highlight>
                  <a:srgbClr val="FFFFFF"/>
                </a:highlight>
                <a:latin typeface="Nunito"/>
                <a:ea typeface="Nunito"/>
                <a:cs typeface="Nunito"/>
                <a:sym typeface="Nunito"/>
              </a:rPr>
              <a:t>Advantages of Transfer Learning in Computer Vision</a:t>
            </a:r>
            <a:endParaRPr b="1" sz="4000">
              <a:solidFill>
                <a:srgbClr val="273239"/>
              </a:solidFill>
              <a:highlight>
                <a:srgbClr val="FFFFFF"/>
              </a:highlight>
              <a:latin typeface="Nunito"/>
              <a:ea typeface="Nunito"/>
              <a:cs typeface="Nunito"/>
              <a:sym typeface="Nunito"/>
            </a:endParaRPr>
          </a:p>
        </p:txBody>
      </p:sp>
      <p:sp>
        <p:nvSpPr>
          <p:cNvPr id="136" name="Google Shape;136;g3670d6dfcaf_0_2"/>
          <p:cNvSpPr txBox="1"/>
          <p:nvPr>
            <p:ph idx="1" type="body"/>
          </p:nvPr>
        </p:nvSpPr>
        <p:spPr>
          <a:xfrm>
            <a:off x="457200" y="141765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b="1" sz="2800">
              <a:solidFill>
                <a:srgbClr val="273239"/>
              </a:solidFill>
              <a:highlight>
                <a:srgbClr val="FFFFFF"/>
              </a:highlight>
              <a:latin typeface="Nunito"/>
              <a:ea typeface="Nunito"/>
              <a:cs typeface="Nunito"/>
              <a:sym typeface="Nunito"/>
            </a:endParaRPr>
          </a:p>
          <a:p>
            <a:pPr indent="-339725" lvl="0" marL="685800" rtl="0" algn="l">
              <a:lnSpc>
                <a:spcPct val="158000"/>
              </a:lnSpc>
              <a:spcBef>
                <a:spcPts val="0"/>
              </a:spcBef>
              <a:spcAft>
                <a:spcPts val="0"/>
              </a:spcAft>
              <a:buClr>
                <a:srgbClr val="273239"/>
              </a:buClr>
              <a:buSzPts val="1750"/>
              <a:buFont typeface="Nunito"/>
              <a:buAutoNum type="arabicPeriod"/>
            </a:pPr>
            <a:r>
              <a:rPr b="1" lang="en-US" sz="1750">
                <a:solidFill>
                  <a:srgbClr val="273239"/>
                </a:solidFill>
                <a:highlight>
                  <a:srgbClr val="FFFFFF"/>
                </a:highlight>
                <a:latin typeface="Nunito"/>
                <a:ea typeface="Nunito"/>
                <a:cs typeface="Nunito"/>
                <a:sym typeface="Nunito"/>
              </a:rPr>
              <a:t>Reduced Training Time</a:t>
            </a:r>
            <a:r>
              <a:rPr lang="en-US" sz="1750">
                <a:solidFill>
                  <a:srgbClr val="273239"/>
                </a:solidFill>
                <a:highlight>
                  <a:srgbClr val="FFFFFF"/>
                </a:highlight>
                <a:latin typeface="Nunito"/>
                <a:ea typeface="Nunito"/>
                <a:cs typeface="Nunito"/>
                <a:sym typeface="Nunito"/>
              </a:rPr>
              <a:t>: By leveraging pre-trained models, transfer learning significantly reduces the time required to train a model for a new task.</a:t>
            </a:r>
            <a:endParaRPr sz="1750">
              <a:solidFill>
                <a:srgbClr val="273239"/>
              </a:solidFill>
              <a:highlight>
                <a:srgbClr val="FFFFFF"/>
              </a:highlight>
              <a:latin typeface="Nunito"/>
              <a:ea typeface="Nunito"/>
              <a:cs typeface="Nunito"/>
              <a:sym typeface="Nunito"/>
            </a:endParaRPr>
          </a:p>
          <a:p>
            <a:pPr indent="-339725" lvl="0" marL="685800" rtl="0" algn="l">
              <a:lnSpc>
                <a:spcPct val="158000"/>
              </a:lnSpc>
              <a:spcBef>
                <a:spcPts val="0"/>
              </a:spcBef>
              <a:spcAft>
                <a:spcPts val="0"/>
              </a:spcAft>
              <a:buClr>
                <a:srgbClr val="273239"/>
              </a:buClr>
              <a:buSzPts val="1750"/>
              <a:buFont typeface="Nunito"/>
              <a:buAutoNum type="arabicPeriod"/>
            </a:pPr>
            <a:r>
              <a:rPr b="1" lang="en-US" sz="1750">
                <a:solidFill>
                  <a:srgbClr val="273239"/>
                </a:solidFill>
                <a:highlight>
                  <a:srgbClr val="FFFFFF"/>
                </a:highlight>
                <a:latin typeface="Nunito"/>
                <a:ea typeface="Nunito"/>
                <a:cs typeface="Nunito"/>
                <a:sym typeface="Nunito"/>
              </a:rPr>
              <a:t>Improved Performance</a:t>
            </a:r>
            <a:r>
              <a:rPr lang="en-US" sz="1750">
                <a:solidFill>
                  <a:srgbClr val="273239"/>
                </a:solidFill>
                <a:highlight>
                  <a:srgbClr val="FFFFFF"/>
                </a:highlight>
                <a:latin typeface="Nunito"/>
                <a:ea typeface="Nunito"/>
                <a:cs typeface="Nunito"/>
                <a:sym typeface="Nunito"/>
              </a:rPr>
              <a:t>: Pre-trained models provide a strong starting point, often leading to better performance on the target task compared to training from scratch.</a:t>
            </a:r>
            <a:endParaRPr sz="1750">
              <a:solidFill>
                <a:srgbClr val="273239"/>
              </a:solidFill>
              <a:highlight>
                <a:srgbClr val="FFFFFF"/>
              </a:highlight>
              <a:latin typeface="Nunito"/>
              <a:ea typeface="Nunito"/>
              <a:cs typeface="Nunito"/>
              <a:sym typeface="Nunito"/>
            </a:endParaRPr>
          </a:p>
          <a:p>
            <a:pPr indent="-339725" lvl="0" marL="685800" rtl="0" algn="l">
              <a:lnSpc>
                <a:spcPct val="158000"/>
              </a:lnSpc>
              <a:spcBef>
                <a:spcPts val="0"/>
              </a:spcBef>
              <a:spcAft>
                <a:spcPts val="0"/>
              </a:spcAft>
              <a:buClr>
                <a:srgbClr val="273239"/>
              </a:buClr>
              <a:buSzPts val="1750"/>
              <a:buFont typeface="Nunito"/>
              <a:buAutoNum type="arabicPeriod"/>
            </a:pPr>
            <a:r>
              <a:rPr b="1" lang="en-US" sz="1750">
                <a:solidFill>
                  <a:srgbClr val="273239"/>
                </a:solidFill>
                <a:highlight>
                  <a:srgbClr val="FFFFFF"/>
                </a:highlight>
                <a:latin typeface="Nunito"/>
                <a:ea typeface="Nunito"/>
                <a:cs typeface="Nunito"/>
                <a:sym typeface="Nunito"/>
              </a:rPr>
              <a:t>Lower Data Requirements</a:t>
            </a:r>
            <a:r>
              <a:rPr lang="en-US" sz="1750">
                <a:solidFill>
                  <a:srgbClr val="273239"/>
                </a:solidFill>
                <a:highlight>
                  <a:srgbClr val="FFFFFF"/>
                </a:highlight>
                <a:latin typeface="Nunito"/>
                <a:ea typeface="Nunito"/>
                <a:cs typeface="Nunito"/>
                <a:sym typeface="Nunito"/>
              </a:rPr>
              <a:t>: Transfer learning is particularly beneficial when the target dataset is small, as the pre-trained model's general features mitigate the need for large amounts of labeled data.</a:t>
            </a:r>
            <a:endParaRPr sz="1750">
              <a:solidFill>
                <a:srgbClr val="273239"/>
              </a:solidFill>
              <a:highlight>
                <a:srgbClr val="FFFFFF"/>
              </a:highlight>
              <a:latin typeface="Nunito"/>
              <a:ea typeface="Nunito"/>
              <a:cs typeface="Nunito"/>
              <a:sym typeface="Nunito"/>
            </a:endParaRPr>
          </a:p>
          <a:p>
            <a:pPr indent="0" lvl="0" marL="0" rtl="0" algn="l">
              <a:lnSpc>
                <a:spcPct val="115000"/>
              </a:lnSpc>
              <a:spcBef>
                <a:spcPts val="1800"/>
              </a:spcBef>
              <a:spcAft>
                <a:spcPts val="0"/>
              </a:spcAft>
              <a:buNone/>
            </a:pPr>
            <a:r>
              <a:t/>
            </a:r>
            <a:endParaRPr sz="2350">
              <a:solidFill>
                <a:srgbClr val="273239"/>
              </a:solidFill>
              <a:highlight>
                <a:srgbClr val="FFFFFF"/>
              </a:highlight>
              <a:latin typeface="Nunito"/>
              <a:ea typeface="Nunito"/>
              <a:cs typeface="Nunito"/>
              <a:sym typeface="Nunito"/>
            </a:endParaRPr>
          </a:p>
          <a:p>
            <a:pPr indent="0" lvl="0" marL="457200" rtl="0" algn="l">
              <a:lnSpc>
                <a:spcPct val="115000"/>
              </a:lnSpc>
              <a:spcBef>
                <a:spcPts val="1200"/>
              </a:spcBef>
              <a:spcAft>
                <a:spcPts val="0"/>
              </a:spcAft>
              <a:buNone/>
            </a:pPr>
            <a:r>
              <a:t/>
            </a:r>
            <a:endParaRPr sz="3100">
              <a:latin typeface="Arial"/>
              <a:ea typeface="Arial"/>
              <a:cs typeface="Arial"/>
              <a:sym typeface="Arial"/>
            </a:endParaRPr>
          </a:p>
          <a:p>
            <a:pPr indent="0" lvl="0" marL="0" rtl="0" algn="l">
              <a:spcBef>
                <a:spcPts val="1200"/>
              </a:spcBef>
              <a:spcAft>
                <a:spcPts val="0"/>
              </a:spcAft>
              <a:buNone/>
            </a:pPr>
            <a:r>
              <a:t/>
            </a:r>
            <a:endParaRPr sz="5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g3670d6dfcaf_0_51"/>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42" name="Google Shape;142;g3670d6dfcaf_0_51"/>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43" name="Google Shape;143;g3670d6dfcaf_0_51"/>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44" name="Google Shape;144;g3670d6dfcaf_0_5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None/>
            </a:pPr>
            <a:r>
              <a:rPr b="1" lang="en-US" sz="2700">
                <a:latin typeface="Arial"/>
                <a:ea typeface="Arial"/>
                <a:cs typeface="Arial"/>
                <a:sym typeface="Arial"/>
              </a:rPr>
              <a:t> </a:t>
            </a:r>
            <a:endParaRPr b="1" sz="2700">
              <a:latin typeface="Arial"/>
              <a:ea typeface="Arial"/>
              <a:cs typeface="Arial"/>
              <a:sym typeface="Arial"/>
            </a:endParaRPr>
          </a:p>
          <a:p>
            <a:pPr indent="0" lvl="0" marL="0" rtl="0" algn="l">
              <a:lnSpc>
                <a:spcPct val="115000"/>
              </a:lnSpc>
              <a:spcBef>
                <a:spcPts val="1200"/>
              </a:spcBef>
              <a:spcAft>
                <a:spcPts val="0"/>
              </a:spcAft>
              <a:buNone/>
            </a:pPr>
            <a:r>
              <a:rPr b="1" lang="en-US" sz="4033">
                <a:latin typeface="Arial"/>
                <a:ea typeface="Arial"/>
                <a:cs typeface="Arial"/>
                <a:sym typeface="Arial"/>
              </a:rPr>
              <a:t>Popular Pretrained Models</a:t>
            </a:r>
            <a:endParaRPr b="1" sz="4033">
              <a:latin typeface="Arial"/>
              <a:ea typeface="Arial"/>
              <a:cs typeface="Arial"/>
              <a:sym typeface="Arial"/>
            </a:endParaRPr>
          </a:p>
          <a:p>
            <a:pPr indent="0" lvl="0" marL="0" rtl="0" algn="l">
              <a:lnSpc>
                <a:spcPct val="115000"/>
              </a:lnSpc>
              <a:spcBef>
                <a:spcPts val="200"/>
              </a:spcBef>
              <a:spcAft>
                <a:spcPts val="0"/>
              </a:spcAft>
              <a:buNone/>
            </a:pPr>
            <a:r>
              <a:t/>
            </a:r>
            <a:endParaRPr b="1" sz="2300">
              <a:solidFill>
                <a:srgbClr val="273239"/>
              </a:solidFill>
              <a:highlight>
                <a:srgbClr val="FFFFFF"/>
              </a:highlight>
              <a:latin typeface="Nunito"/>
              <a:ea typeface="Nunito"/>
              <a:cs typeface="Nunito"/>
              <a:sym typeface="Nunito"/>
            </a:endParaRPr>
          </a:p>
        </p:txBody>
      </p:sp>
      <p:sp>
        <p:nvSpPr>
          <p:cNvPr id="145" name="Google Shape;145;g3670d6dfcaf_0_51"/>
          <p:cNvSpPr txBox="1"/>
          <p:nvPr>
            <p:ph idx="1" type="body"/>
          </p:nvPr>
        </p:nvSpPr>
        <p:spPr>
          <a:xfrm>
            <a:off x="457200" y="1417650"/>
            <a:ext cx="8229600" cy="4526100"/>
          </a:xfrm>
          <a:prstGeom prst="rect">
            <a:avLst/>
          </a:prstGeom>
        </p:spPr>
        <p:txBody>
          <a:bodyPr anchorCtr="0" anchor="t" bIns="45700" lIns="91425" spcFirstLastPara="1" rIns="91425" wrap="square" tIns="45700">
            <a:noAutofit/>
          </a:bodyPr>
          <a:lstStyle/>
          <a:p>
            <a:pPr indent="-501650" lvl="0" marL="457200" rtl="0" algn="l">
              <a:spcBef>
                <a:spcPts val="360"/>
              </a:spcBef>
              <a:spcAft>
                <a:spcPts val="0"/>
              </a:spcAft>
              <a:buSzPts val="4300"/>
              <a:buChar char="-"/>
            </a:pPr>
            <a:r>
              <a:rPr lang="en-US" sz="4300"/>
              <a:t>ResNet</a:t>
            </a:r>
            <a:endParaRPr sz="4300"/>
          </a:p>
          <a:p>
            <a:pPr indent="-501650" lvl="0" marL="457200" rtl="0" algn="l">
              <a:spcBef>
                <a:spcPts val="0"/>
              </a:spcBef>
              <a:spcAft>
                <a:spcPts val="0"/>
              </a:spcAft>
              <a:buSzPts val="4300"/>
              <a:buChar char="-"/>
            </a:pPr>
            <a:r>
              <a:rPr lang="en-US" sz="4300"/>
              <a:t>VGG</a:t>
            </a:r>
            <a:endParaRPr sz="4300"/>
          </a:p>
          <a:p>
            <a:pPr indent="-501650" lvl="0" marL="457200" rtl="0" algn="l">
              <a:spcBef>
                <a:spcPts val="0"/>
              </a:spcBef>
              <a:spcAft>
                <a:spcPts val="0"/>
              </a:spcAft>
              <a:buSzPts val="4300"/>
              <a:buChar char="-"/>
            </a:pPr>
            <a:r>
              <a:rPr lang="en-US" sz="4300"/>
              <a:t>Inception</a:t>
            </a:r>
            <a:endParaRPr sz="4300"/>
          </a:p>
          <a:p>
            <a:pPr indent="-501650" lvl="0" marL="457200" rtl="0" algn="l">
              <a:spcBef>
                <a:spcPts val="0"/>
              </a:spcBef>
              <a:spcAft>
                <a:spcPts val="0"/>
              </a:spcAft>
              <a:buSzPts val="4300"/>
              <a:buChar char="-"/>
            </a:pPr>
            <a:r>
              <a:rPr lang="en-US" sz="4300"/>
              <a:t>MobileNet</a:t>
            </a:r>
            <a:endParaRPr sz="4300"/>
          </a:p>
          <a:p>
            <a:pPr indent="-501650" lvl="0" marL="457200" rtl="0" algn="l">
              <a:spcBef>
                <a:spcPts val="0"/>
              </a:spcBef>
              <a:spcAft>
                <a:spcPts val="0"/>
              </a:spcAft>
              <a:buSzPts val="4300"/>
              <a:buChar char="-"/>
            </a:pPr>
            <a:r>
              <a:rPr lang="en-US" sz="4300"/>
              <a:t>EfficientNet</a:t>
            </a:r>
            <a:endParaRPr sz="4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g3670d6dfcaf_0_30"/>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151" name="Google Shape;151;g3670d6dfcaf_0_30"/>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52" name="Google Shape;152;g3670d6dfcaf_0_30"/>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53" name="Google Shape;153;g3670d6dfcaf_0_3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100">
                <a:solidFill>
                  <a:srgbClr val="273239"/>
                </a:solidFill>
                <a:highlight>
                  <a:srgbClr val="FFFFFF"/>
                </a:highlight>
                <a:latin typeface="Nunito"/>
                <a:ea typeface="Nunito"/>
                <a:cs typeface="Nunito"/>
                <a:sym typeface="Nunito"/>
              </a:rPr>
              <a:t>Limitations of Transfer Learning in Computer Vision</a:t>
            </a:r>
            <a:endParaRPr b="1" sz="4300">
              <a:solidFill>
                <a:srgbClr val="273239"/>
              </a:solidFill>
              <a:highlight>
                <a:srgbClr val="FFFFFF"/>
              </a:highlight>
              <a:latin typeface="Nunito"/>
              <a:ea typeface="Nunito"/>
              <a:cs typeface="Nunito"/>
              <a:sym typeface="Nunito"/>
            </a:endParaRPr>
          </a:p>
        </p:txBody>
      </p:sp>
      <p:sp>
        <p:nvSpPr>
          <p:cNvPr id="154" name="Google Shape;154;g3670d6dfcaf_0_30"/>
          <p:cNvSpPr txBox="1"/>
          <p:nvPr>
            <p:ph idx="1" type="body"/>
          </p:nvPr>
        </p:nvSpPr>
        <p:spPr>
          <a:xfrm>
            <a:off x="457200" y="141765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b="1" sz="180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US" sz="1350">
                <a:solidFill>
                  <a:srgbClr val="273239"/>
                </a:solidFill>
                <a:highlight>
                  <a:srgbClr val="FFFFFF"/>
                </a:highlight>
                <a:latin typeface="Nunito"/>
                <a:ea typeface="Nunito"/>
                <a:cs typeface="Nunito"/>
                <a:sym typeface="Nunito"/>
              </a:rPr>
              <a:t>Domain Mismatch</a:t>
            </a:r>
            <a:r>
              <a:rPr lang="en-US" sz="1350">
                <a:solidFill>
                  <a:srgbClr val="273239"/>
                </a:solidFill>
                <a:highlight>
                  <a:srgbClr val="FFFFFF"/>
                </a:highlight>
                <a:latin typeface="Nunito"/>
                <a:ea typeface="Nunito"/>
                <a:cs typeface="Nunito"/>
                <a:sym typeface="Nunito"/>
              </a:rPr>
              <a:t>: Transfer learning assumes that the features learned from the source domain (e.g., ImageNet) are applicable to the target domain. However, if there is a significant difference between the source and target domains, the pre-trained model may not perform well, and the transferred features might not be as useful.</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US" sz="1350">
                <a:solidFill>
                  <a:srgbClr val="273239"/>
                </a:solidFill>
                <a:highlight>
                  <a:srgbClr val="FFFFFF"/>
                </a:highlight>
                <a:latin typeface="Nunito"/>
                <a:ea typeface="Nunito"/>
                <a:cs typeface="Nunito"/>
                <a:sym typeface="Nunito"/>
              </a:rPr>
              <a:t>Overfitting on Small Datasets</a:t>
            </a:r>
            <a:r>
              <a:rPr lang="en-US" sz="1350">
                <a:solidFill>
                  <a:srgbClr val="273239"/>
                </a:solidFill>
                <a:highlight>
                  <a:srgbClr val="FFFFFF"/>
                </a:highlight>
                <a:latin typeface="Nunito"/>
                <a:ea typeface="Nunito"/>
                <a:cs typeface="Nunito"/>
                <a:sym typeface="Nunito"/>
              </a:rPr>
              <a:t>: While transfer learning can help when the target dataset is small, there is still a risk of overfitting if the target dataset is too small to fine-tune the model properly. The model may memorize the training data instead of learning generalizable features.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US" sz="1350">
                <a:solidFill>
                  <a:srgbClr val="273239"/>
                </a:solidFill>
                <a:highlight>
                  <a:srgbClr val="FFFFFF"/>
                </a:highlight>
                <a:latin typeface="Nunito"/>
                <a:ea typeface="Nunito"/>
                <a:cs typeface="Nunito"/>
                <a:sym typeface="Nunito"/>
              </a:rPr>
              <a:t>Model Complexity and Size</a:t>
            </a:r>
            <a:r>
              <a:rPr lang="en-US" sz="1350">
                <a:solidFill>
                  <a:srgbClr val="273239"/>
                </a:solidFill>
                <a:highlight>
                  <a:srgbClr val="FFFFFF"/>
                </a:highlight>
                <a:latin typeface="Nunito"/>
                <a:ea typeface="Nunito"/>
                <a:cs typeface="Nunito"/>
                <a:sym typeface="Nunito"/>
              </a:rPr>
              <a:t>: Pre-trained models, especially those based on deep neural networks, are often large and complex. This can lead to increased computational and memory requirements, making it challenging to deploy these models on devices with limited resources.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b="1" sz="2800">
              <a:solidFill>
                <a:srgbClr val="273239"/>
              </a:solidFill>
              <a:highlight>
                <a:srgbClr val="FFFFFF"/>
              </a:highlight>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